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C6B8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C6B8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C6B8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61617" y="1351915"/>
            <a:ext cx="3459479" cy="402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75628" y="1314450"/>
            <a:ext cx="4536440" cy="4667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42504" y="0"/>
            <a:ext cx="4349750" cy="6858000"/>
          </a:xfrm>
          <a:custGeom>
            <a:avLst/>
            <a:gdLst/>
            <a:ahLst/>
            <a:cxnLst/>
            <a:rect l="l" t="t" r="r" b="b"/>
            <a:pathLst>
              <a:path w="4349750" h="6858000">
                <a:moveTo>
                  <a:pt x="4349496" y="0"/>
                </a:moveTo>
                <a:lnTo>
                  <a:pt x="0" y="0"/>
                </a:lnTo>
                <a:lnTo>
                  <a:pt x="0" y="6858000"/>
                </a:lnTo>
                <a:lnTo>
                  <a:pt x="4349496" y="6858000"/>
                </a:lnTo>
                <a:lnTo>
                  <a:pt x="434949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C6B8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1617" y="864235"/>
            <a:ext cx="1614805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C6B8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jpg"/><Relationship Id="rId4" Type="http://schemas.openxmlformats.org/officeDocument/2006/relationships/image" Target="../media/image29.jpg"/><Relationship Id="rId9" Type="http://schemas.openxmlformats.org/officeDocument/2006/relationships/image" Target="../media/image3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0.png"/><Relationship Id="rId7" Type="http://schemas.openxmlformats.org/officeDocument/2006/relationships/image" Target="../media/image44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jpg"/><Relationship Id="rId11" Type="http://schemas.openxmlformats.org/officeDocument/2006/relationships/image" Target="../media/image48.png"/><Relationship Id="rId5" Type="http://schemas.openxmlformats.org/officeDocument/2006/relationships/image" Target="../media/image42.jpg"/><Relationship Id="rId10" Type="http://schemas.openxmlformats.org/officeDocument/2006/relationships/image" Target="../media/image47.png"/><Relationship Id="rId4" Type="http://schemas.openxmlformats.org/officeDocument/2006/relationships/image" Target="../media/image41.jp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2329" y="3443096"/>
            <a:ext cx="6161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solidFill>
                  <a:srgbClr val="7E7E7E"/>
                </a:solidFill>
                <a:latin typeface="Arial MT"/>
                <a:cs typeface="Arial MT"/>
              </a:rPr>
              <a:t>P</a:t>
            </a:r>
            <a:r>
              <a:rPr sz="5400" b="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7E7E7E"/>
                </a:solidFill>
                <a:latin typeface="Arial MT"/>
                <a:cs typeface="Arial MT"/>
              </a:rPr>
              <a:t>O</a:t>
            </a:r>
            <a:r>
              <a:rPr sz="5400" b="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7E7E7E"/>
                </a:solidFill>
                <a:latin typeface="Arial MT"/>
                <a:cs typeface="Arial MT"/>
              </a:rPr>
              <a:t>R</a:t>
            </a:r>
            <a:r>
              <a:rPr sz="5400" b="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7E7E7E"/>
                </a:solidFill>
                <a:latin typeface="Arial MT"/>
                <a:cs typeface="Arial MT"/>
              </a:rPr>
              <a:t>T</a:t>
            </a:r>
            <a:r>
              <a:rPr sz="5400" b="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5400" b="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F1F1F1"/>
                </a:solidFill>
                <a:latin typeface="Arial MT"/>
                <a:cs typeface="Arial MT"/>
              </a:rPr>
              <a:t>F</a:t>
            </a:r>
            <a:r>
              <a:rPr sz="5400" b="0" spc="-1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F1F1F1"/>
                </a:solidFill>
                <a:latin typeface="Arial MT"/>
                <a:cs typeface="Arial MT"/>
              </a:rPr>
              <a:t>O</a:t>
            </a:r>
            <a:r>
              <a:rPr sz="5400" b="0" spc="-1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F1F1F1"/>
                </a:solidFill>
                <a:latin typeface="Arial MT"/>
                <a:cs typeface="Arial MT"/>
              </a:rPr>
              <a:t>L</a:t>
            </a:r>
            <a:r>
              <a:rPr sz="5400" b="0" spc="-1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F1F1F1"/>
                </a:solidFill>
                <a:latin typeface="Arial MT"/>
                <a:cs typeface="Arial MT"/>
              </a:rPr>
              <a:t>I</a:t>
            </a:r>
            <a:r>
              <a:rPr sz="5400" b="0" spc="-1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5400" b="0" spc="-50" dirty="0">
                <a:solidFill>
                  <a:srgbClr val="F1F1F1"/>
                </a:solidFill>
                <a:latin typeface="Arial MT"/>
                <a:cs typeface="Arial MT"/>
              </a:rPr>
              <a:t>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99508" y="3319653"/>
            <a:ext cx="2764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EABAB"/>
                </a:solidFill>
                <a:latin typeface="Arial MT"/>
                <a:cs typeface="Arial MT"/>
              </a:rPr>
              <a:t>TECNOLOGIAS</a:t>
            </a:r>
            <a:r>
              <a:rPr sz="1200" spc="-50" dirty="0">
                <a:solidFill>
                  <a:srgbClr val="AEABAB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AEABAB"/>
                </a:solidFill>
                <a:latin typeface="Arial MT"/>
                <a:cs typeface="Arial MT"/>
              </a:rPr>
              <a:t>Y</a:t>
            </a:r>
            <a:r>
              <a:rPr sz="1200" spc="-40" dirty="0">
                <a:solidFill>
                  <a:srgbClr val="AEABAB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AEABAB"/>
                </a:solidFill>
                <a:latin typeface="Arial MT"/>
                <a:cs typeface="Arial MT"/>
              </a:rPr>
              <a:t>METODOLOGIA</a:t>
            </a:r>
            <a:r>
              <a:rPr sz="1200" spc="-30" dirty="0">
                <a:solidFill>
                  <a:srgbClr val="AEABAB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AEABAB"/>
                </a:solidFill>
                <a:latin typeface="Arial MT"/>
                <a:cs typeface="Arial MT"/>
              </a:rPr>
              <a:t>BIM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PRESENTACIÓN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Arquitecta</a:t>
            </a:r>
            <a:r>
              <a:rPr spc="260" dirty="0"/>
              <a:t> </a:t>
            </a:r>
            <a:r>
              <a:rPr dirty="0"/>
              <a:t>egresada</a:t>
            </a:r>
            <a:r>
              <a:rPr spc="265" dirty="0"/>
              <a:t> </a:t>
            </a:r>
            <a:r>
              <a:rPr dirty="0"/>
              <a:t>de</a:t>
            </a:r>
            <a:r>
              <a:rPr spc="260" dirty="0"/>
              <a:t> </a:t>
            </a:r>
            <a:r>
              <a:rPr dirty="0"/>
              <a:t>la</a:t>
            </a:r>
            <a:r>
              <a:rPr spc="265" dirty="0"/>
              <a:t> </a:t>
            </a:r>
            <a:r>
              <a:rPr dirty="0"/>
              <a:t>Universidad</a:t>
            </a:r>
            <a:r>
              <a:rPr spc="270" dirty="0"/>
              <a:t> </a:t>
            </a:r>
            <a:r>
              <a:rPr dirty="0"/>
              <a:t>de</a:t>
            </a:r>
            <a:r>
              <a:rPr spc="260" dirty="0"/>
              <a:t> </a:t>
            </a:r>
            <a:r>
              <a:rPr spc="-10" dirty="0"/>
              <a:t>Concepción </a:t>
            </a:r>
            <a:r>
              <a:rPr dirty="0"/>
              <a:t>con</a:t>
            </a:r>
            <a:r>
              <a:rPr spc="315" dirty="0"/>
              <a:t>  </a:t>
            </a:r>
            <a:r>
              <a:rPr dirty="0"/>
              <a:t>amplios</a:t>
            </a:r>
            <a:r>
              <a:rPr spc="315" dirty="0"/>
              <a:t>  </a:t>
            </a:r>
            <a:r>
              <a:rPr dirty="0"/>
              <a:t>conocimientos</a:t>
            </a:r>
            <a:r>
              <a:rPr spc="315" dirty="0"/>
              <a:t>  </a:t>
            </a:r>
            <a:r>
              <a:rPr dirty="0"/>
              <a:t>aplicados</a:t>
            </a:r>
            <a:r>
              <a:rPr spc="315" dirty="0"/>
              <a:t>  </a:t>
            </a:r>
            <a:r>
              <a:rPr dirty="0"/>
              <a:t>al</a:t>
            </a:r>
            <a:r>
              <a:rPr spc="315" dirty="0"/>
              <a:t>  </a:t>
            </a:r>
            <a:r>
              <a:rPr spc="-10" dirty="0"/>
              <a:t>diseño, </a:t>
            </a:r>
            <a:r>
              <a:rPr dirty="0"/>
              <a:t>tecnologías</a:t>
            </a:r>
            <a:r>
              <a:rPr spc="120" dirty="0"/>
              <a:t> </a:t>
            </a:r>
            <a:r>
              <a:rPr dirty="0"/>
              <a:t>y</a:t>
            </a:r>
            <a:r>
              <a:rPr spc="120" dirty="0"/>
              <a:t> </a:t>
            </a:r>
            <a:r>
              <a:rPr dirty="0"/>
              <a:t>urbanismo.</a:t>
            </a:r>
            <a:r>
              <a:rPr spc="114" dirty="0"/>
              <a:t> </a:t>
            </a:r>
            <a:r>
              <a:rPr dirty="0"/>
              <a:t>En</a:t>
            </a:r>
            <a:r>
              <a:rPr spc="120" dirty="0"/>
              <a:t> </a:t>
            </a:r>
            <a:r>
              <a:rPr dirty="0"/>
              <a:t>el</a:t>
            </a:r>
            <a:r>
              <a:rPr spc="130" dirty="0"/>
              <a:t> </a:t>
            </a:r>
            <a:r>
              <a:rPr dirty="0"/>
              <a:t>ejercicio</a:t>
            </a:r>
            <a:r>
              <a:rPr spc="125" dirty="0"/>
              <a:t> </a:t>
            </a:r>
            <a:r>
              <a:rPr dirty="0"/>
              <a:t>de</a:t>
            </a:r>
            <a:r>
              <a:rPr spc="125" dirty="0"/>
              <a:t> </a:t>
            </a:r>
            <a:r>
              <a:rPr dirty="0"/>
              <a:t>la</a:t>
            </a:r>
            <a:r>
              <a:rPr spc="125" dirty="0"/>
              <a:t> </a:t>
            </a:r>
            <a:r>
              <a:rPr spc="-10" dirty="0"/>
              <a:t>profesión </a:t>
            </a:r>
            <a:r>
              <a:rPr dirty="0"/>
              <a:t>me</a:t>
            </a:r>
            <a:r>
              <a:rPr spc="265" dirty="0"/>
              <a:t> </a:t>
            </a:r>
            <a:r>
              <a:rPr dirty="0"/>
              <a:t>he</a:t>
            </a:r>
            <a:r>
              <a:rPr spc="270" dirty="0"/>
              <a:t> </a:t>
            </a:r>
            <a:r>
              <a:rPr dirty="0"/>
              <a:t>perfeccionado</a:t>
            </a:r>
            <a:r>
              <a:rPr spc="270" dirty="0"/>
              <a:t> </a:t>
            </a:r>
            <a:r>
              <a:rPr dirty="0"/>
              <a:t>activamente</a:t>
            </a:r>
            <a:r>
              <a:rPr spc="275" dirty="0"/>
              <a:t> </a:t>
            </a:r>
            <a:r>
              <a:rPr dirty="0"/>
              <a:t>en</a:t>
            </a:r>
            <a:r>
              <a:rPr spc="265" dirty="0"/>
              <a:t> </a:t>
            </a:r>
            <a:r>
              <a:rPr dirty="0"/>
              <a:t>la</a:t>
            </a:r>
            <a:r>
              <a:rPr spc="270" dirty="0"/>
              <a:t> </a:t>
            </a:r>
            <a:r>
              <a:rPr dirty="0"/>
              <a:t>aplicación</a:t>
            </a:r>
            <a:r>
              <a:rPr spc="275" dirty="0"/>
              <a:t> </a:t>
            </a:r>
            <a:r>
              <a:rPr spc="-25" dirty="0"/>
              <a:t>de </a:t>
            </a:r>
            <a:r>
              <a:rPr dirty="0"/>
              <a:t>tecnologías</a:t>
            </a:r>
            <a:r>
              <a:rPr spc="114" dirty="0"/>
              <a:t> </a:t>
            </a:r>
            <a:r>
              <a:rPr dirty="0"/>
              <a:t>BIM,</a:t>
            </a:r>
            <a:r>
              <a:rPr spc="114" dirty="0"/>
              <a:t> </a:t>
            </a:r>
            <a:r>
              <a:rPr dirty="0"/>
              <a:t>logrando</a:t>
            </a:r>
            <a:r>
              <a:rPr spc="125" dirty="0"/>
              <a:t> </a:t>
            </a:r>
            <a:r>
              <a:rPr dirty="0"/>
              <a:t>coordinar</a:t>
            </a:r>
            <a:r>
              <a:rPr spc="114" dirty="0"/>
              <a:t> </a:t>
            </a:r>
            <a:r>
              <a:rPr dirty="0"/>
              <a:t>a</a:t>
            </a:r>
            <a:r>
              <a:rPr spc="120" dirty="0"/>
              <a:t> </a:t>
            </a:r>
            <a:r>
              <a:rPr dirty="0"/>
              <a:t>la</a:t>
            </a:r>
            <a:r>
              <a:rPr spc="120" dirty="0"/>
              <a:t> </a:t>
            </a:r>
            <a:r>
              <a:rPr dirty="0"/>
              <a:t>fecha</a:t>
            </a:r>
            <a:r>
              <a:rPr spc="120" dirty="0"/>
              <a:t> </a:t>
            </a:r>
            <a:r>
              <a:rPr spc="-10" dirty="0"/>
              <a:t>diversos </a:t>
            </a:r>
            <a:r>
              <a:rPr dirty="0"/>
              <a:t>proyectos</a:t>
            </a:r>
            <a:r>
              <a:rPr spc="114" dirty="0"/>
              <a:t> </a:t>
            </a:r>
            <a:r>
              <a:rPr dirty="0"/>
              <a:t>habitacionales,</a:t>
            </a:r>
            <a:r>
              <a:rPr spc="114" dirty="0"/>
              <a:t>  </a:t>
            </a:r>
            <a:r>
              <a:rPr dirty="0"/>
              <a:t>gubernamentales,</a:t>
            </a:r>
            <a:r>
              <a:rPr spc="114" dirty="0"/>
              <a:t> </a:t>
            </a:r>
            <a:r>
              <a:rPr spc="-10" dirty="0"/>
              <a:t>deportivos, </a:t>
            </a:r>
            <a:r>
              <a:rPr dirty="0"/>
              <a:t>aeropuertos,</a:t>
            </a:r>
            <a:r>
              <a:rPr spc="5" dirty="0"/>
              <a:t> </a:t>
            </a:r>
            <a:r>
              <a:rPr spc="-10" dirty="0"/>
              <a:t>educacionales</a:t>
            </a:r>
            <a:r>
              <a:rPr spc="-5" dirty="0"/>
              <a:t> </a:t>
            </a:r>
            <a:r>
              <a:rPr dirty="0"/>
              <a:t>y</a:t>
            </a:r>
            <a:r>
              <a:rPr spc="20" dirty="0"/>
              <a:t> </a:t>
            </a:r>
            <a:r>
              <a:rPr spc="-10" dirty="0"/>
              <a:t>recreación.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10" dirty="0"/>
          </a:p>
          <a:p>
            <a:pPr marL="12700" marR="5080" algn="just">
              <a:lnSpc>
                <a:spcPct val="100000"/>
              </a:lnSpc>
            </a:pPr>
            <a:r>
              <a:rPr dirty="0"/>
              <a:t>Profesional</a:t>
            </a:r>
            <a:r>
              <a:rPr spc="295" dirty="0"/>
              <a:t> </a:t>
            </a:r>
            <a:r>
              <a:rPr dirty="0"/>
              <a:t>pro</a:t>
            </a:r>
            <a:r>
              <a:rPr spc="285" dirty="0"/>
              <a:t> </a:t>
            </a:r>
            <a:r>
              <a:rPr dirty="0"/>
              <a:t>activo,</a:t>
            </a:r>
            <a:r>
              <a:rPr spc="280" dirty="0"/>
              <a:t> </a:t>
            </a:r>
            <a:r>
              <a:rPr dirty="0"/>
              <a:t>con</a:t>
            </a:r>
            <a:r>
              <a:rPr spc="290" dirty="0"/>
              <a:t> </a:t>
            </a:r>
            <a:r>
              <a:rPr dirty="0"/>
              <a:t>iniciativa</a:t>
            </a:r>
            <a:r>
              <a:rPr spc="295" dirty="0"/>
              <a:t> </a:t>
            </a:r>
            <a:r>
              <a:rPr dirty="0"/>
              <a:t>y</a:t>
            </a:r>
            <a:r>
              <a:rPr spc="275" dirty="0"/>
              <a:t> </a:t>
            </a:r>
            <a:r>
              <a:rPr dirty="0"/>
              <a:t>habilidades</a:t>
            </a:r>
            <a:r>
              <a:rPr spc="290" dirty="0"/>
              <a:t> </a:t>
            </a:r>
            <a:r>
              <a:rPr spc="-25" dirty="0"/>
              <a:t>de </a:t>
            </a:r>
            <a:r>
              <a:rPr dirty="0"/>
              <a:t>trabajo</a:t>
            </a:r>
            <a:r>
              <a:rPr spc="100" dirty="0"/>
              <a:t> </a:t>
            </a:r>
            <a:r>
              <a:rPr dirty="0"/>
              <a:t>en</a:t>
            </a:r>
            <a:r>
              <a:rPr spc="100" dirty="0"/>
              <a:t> </a:t>
            </a:r>
            <a:r>
              <a:rPr dirty="0"/>
              <a:t>equipo.</a:t>
            </a:r>
            <a:r>
              <a:rPr spc="85" dirty="0"/>
              <a:t> </a:t>
            </a:r>
            <a:r>
              <a:rPr dirty="0"/>
              <a:t>Dentro</a:t>
            </a:r>
            <a:r>
              <a:rPr spc="105" dirty="0"/>
              <a:t> </a:t>
            </a:r>
            <a:r>
              <a:rPr dirty="0"/>
              <a:t>del</a:t>
            </a:r>
            <a:r>
              <a:rPr spc="110" dirty="0"/>
              <a:t> </a:t>
            </a:r>
            <a:r>
              <a:rPr dirty="0"/>
              <a:t>desempeño</a:t>
            </a:r>
            <a:r>
              <a:rPr spc="105" dirty="0"/>
              <a:t> </a:t>
            </a:r>
            <a:r>
              <a:rPr dirty="0"/>
              <a:t>durante</a:t>
            </a:r>
            <a:r>
              <a:rPr spc="95" dirty="0"/>
              <a:t> </a:t>
            </a:r>
            <a:r>
              <a:rPr spc="-10" dirty="0"/>
              <a:t>estos </a:t>
            </a:r>
            <a:r>
              <a:rPr dirty="0"/>
              <a:t>años,</a:t>
            </a:r>
            <a:r>
              <a:rPr spc="150" dirty="0"/>
              <a:t>  </a:t>
            </a:r>
            <a:r>
              <a:rPr dirty="0"/>
              <a:t>encargado</a:t>
            </a:r>
            <a:r>
              <a:rPr spc="155" dirty="0"/>
              <a:t>  </a:t>
            </a:r>
            <a:r>
              <a:rPr dirty="0"/>
              <a:t>de</a:t>
            </a:r>
            <a:r>
              <a:rPr spc="150" dirty="0"/>
              <a:t>  </a:t>
            </a:r>
            <a:r>
              <a:rPr dirty="0"/>
              <a:t>proyectos</a:t>
            </a:r>
            <a:r>
              <a:rPr spc="155" dirty="0"/>
              <a:t>  </a:t>
            </a:r>
            <a:r>
              <a:rPr dirty="0"/>
              <a:t>BIM</a:t>
            </a:r>
            <a:r>
              <a:rPr spc="150" dirty="0"/>
              <a:t>  </a:t>
            </a:r>
            <a:r>
              <a:rPr dirty="0"/>
              <a:t>en</a:t>
            </a:r>
            <a:r>
              <a:rPr spc="155" dirty="0"/>
              <a:t>  </a:t>
            </a:r>
            <a:r>
              <a:rPr dirty="0"/>
              <a:t>oficina</a:t>
            </a:r>
            <a:r>
              <a:rPr spc="155" dirty="0"/>
              <a:t>  </a:t>
            </a:r>
            <a:r>
              <a:rPr spc="-25" dirty="0"/>
              <a:t>de </a:t>
            </a:r>
            <a:r>
              <a:rPr dirty="0"/>
              <a:t>ingeniería,</a:t>
            </a:r>
            <a:r>
              <a:rPr spc="250" dirty="0"/>
              <a:t>  </a:t>
            </a:r>
            <a:r>
              <a:rPr dirty="0"/>
              <a:t>desarrollando</a:t>
            </a:r>
            <a:r>
              <a:rPr spc="250" dirty="0"/>
              <a:t>  </a:t>
            </a:r>
            <a:r>
              <a:rPr dirty="0"/>
              <a:t>basta</a:t>
            </a:r>
            <a:r>
              <a:rPr spc="254" dirty="0"/>
              <a:t>  </a:t>
            </a:r>
            <a:r>
              <a:rPr dirty="0"/>
              <a:t>experiencia</a:t>
            </a:r>
            <a:r>
              <a:rPr spc="250" dirty="0"/>
              <a:t>  </a:t>
            </a:r>
            <a:r>
              <a:rPr dirty="0"/>
              <a:t>en</a:t>
            </a:r>
            <a:r>
              <a:rPr spc="254" dirty="0"/>
              <a:t>  </a:t>
            </a:r>
            <a:r>
              <a:rPr spc="-25" dirty="0"/>
              <a:t>la </a:t>
            </a:r>
            <a:r>
              <a:rPr dirty="0"/>
              <a:t>aplicación</a:t>
            </a:r>
            <a:r>
              <a:rPr spc="-1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metodología y</a:t>
            </a:r>
            <a:r>
              <a:rPr spc="-20" dirty="0"/>
              <a:t> </a:t>
            </a:r>
            <a:r>
              <a:rPr dirty="0"/>
              <a:t>desarrollo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proyectos</a:t>
            </a:r>
            <a:r>
              <a:rPr spc="-10" dirty="0"/>
              <a:t> </a:t>
            </a:r>
            <a:r>
              <a:rPr spc="-35" dirty="0"/>
              <a:t>de </a:t>
            </a:r>
            <a:r>
              <a:rPr dirty="0"/>
              <a:t>amplia</a:t>
            </a:r>
            <a:r>
              <a:rPr spc="-40" dirty="0"/>
              <a:t> </a:t>
            </a:r>
            <a:r>
              <a:rPr spc="-10" dirty="0"/>
              <a:t>envergadura.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10" dirty="0"/>
          </a:p>
          <a:p>
            <a:pPr marL="12700" marR="5080" algn="just">
              <a:lnSpc>
                <a:spcPct val="100000"/>
              </a:lnSpc>
            </a:pPr>
            <a:r>
              <a:rPr dirty="0"/>
              <a:t>Se</a:t>
            </a:r>
            <a:r>
              <a:rPr spc="10" dirty="0"/>
              <a:t> </a:t>
            </a:r>
            <a:r>
              <a:rPr dirty="0"/>
              <a:t>destacan los</a:t>
            </a:r>
            <a:r>
              <a:rPr spc="15" dirty="0"/>
              <a:t> </a:t>
            </a:r>
            <a:r>
              <a:rPr dirty="0"/>
              <a:t>siguientes</a:t>
            </a:r>
            <a:r>
              <a:rPr spc="15" dirty="0"/>
              <a:t> </a:t>
            </a:r>
            <a:r>
              <a:rPr dirty="0"/>
              <a:t>proyectos</a:t>
            </a:r>
            <a:r>
              <a:rPr spc="10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dirty="0"/>
              <a:t>desarrollo</a:t>
            </a:r>
            <a:r>
              <a:rPr spc="10" dirty="0"/>
              <a:t> </a:t>
            </a:r>
            <a:r>
              <a:rPr dirty="0"/>
              <a:t>BIM</a:t>
            </a:r>
            <a:r>
              <a:rPr spc="10" dirty="0"/>
              <a:t> </a:t>
            </a:r>
            <a:r>
              <a:rPr spc="-50" dirty="0"/>
              <a:t>y </a:t>
            </a:r>
            <a:r>
              <a:rPr spc="-10" dirty="0"/>
              <a:t>experiencia</a:t>
            </a:r>
            <a:r>
              <a:rPr spc="-20" dirty="0"/>
              <a:t> </a:t>
            </a:r>
            <a:r>
              <a:rPr dirty="0"/>
              <a:t>en</a:t>
            </a:r>
            <a:r>
              <a:rPr spc="-10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públicos</a:t>
            </a:r>
            <a:r>
              <a:rPr spc="-20" dirty="0"/>
              <a:t> </a:t>
            </a:r>
            <a:r>
              <a:rPr dirty="0"/>
              <a:t>y</a:t>
            </a:r>
            <a:r>
              <a:rPr spc="-5" dirty="0"/>
              <a:t> </a:t>
            </a:r>
            <a:r>
              <a:rPr spc="-10" dirty="0"/>
              <a:t>privados.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10" dirty="0"/>
          </a:p>
          <a:p>
            <a:pPr marL="12700" algn="just">
              <a:lnSpc>
                <a:spcPct val="100000"/>
              </a:lnSpc>
            </a:pPr>
            <a:r>
              <a:rPr b="1" dirty="0">
                <a:solidFill>
                  <a:srgbClr val="7E7E7E"/>
                </a:solidFill>
                <a:latin typeface="Arial"/>
                <a:cs typeface="Arial"/>
              </a:rPr>
              <a:t>Proyectos</a:t>
            </a:r>
            <a:r>
              <a:rPr b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7E7E7E"/>
                </a:solidFill>
                <a:latin typeface="Arial"/>
                <a:cs typeface="Arial"/>
              </a:rPr>
              <a:t>desarrollados</a:t>
            </a:r>
            <a:r>
              <a:rPr b="1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7E7E7E"/>
                </a:solidFill>
                <a:latin typeface="Arial"/>
                <a:cs typeface="Arial"/>
              </a:rPr>
              <a:t>a</a:t>
            </a:r>
            <a:r>
              <a:rPr b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7E7E7E"/>
                </a:solidFill>
                <a:latin typeface="Arial"/>
                <a:cs typeface="Arial"/>
              </a:rPr>
              <a:t>la </a:t>
            </a:r>
            <a:r>
              <a:rPr b="1" spc="-10" dirty="0">
                <a:solidFill>
                  <a:srgbClr val="7E7E7E"/>
                </a:solidFill>
                <a:latin typeface="Arial"/>
                <a:cs typeface="Arial"/>
              </a:rPr>
              <a:t>fecha.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b="1" spc="-10" dirty="0">
              <a:solidFill>
                <a:srgbClr val="7E7E7E"/>
              </a:solidFill>
              <a:latin typeface="Arial"/>
              <a:cs typeface="Arial"/>
            </a:endParaRP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40" dirty="0"/>
              <a:t> </a:t>
            </a:r>
            <a:r>
              <a:rPr spc="-10" dirty="0"/>
              <a:t>Michimalonco</a:t>
            </a:r>
            <a:r>
              <a:rPr spc="-35" dirty="0"/>
              <a:t> </a:t>
            </a:r>
            <a:r>
              <a:rPr dirty="0"/>
              <a:t>plaza</a:t>
            </a:r>
            <a:r>
              <a:rPr spc="5" dirty="0"/>
              <a:t> </a:t>
            </a:r>
            <a:r>
              <a:rPr dirty="0"/>
              <a:t>– San</a:t>
            </a:r>
            <a:r>
              <a:rPr spc="-15" dirty="0"/>
              <a:t> </a:t>
            </a:r>
            <a:r>
              <a:rPr dirty="0"/>
              <a:t>pedro</a:t>
            </a:r>
            <a:r>
              <a:rPr spc="-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la</a:t>
            </a:r>
            <a:r>
              <a:rPr spc="-5" dirty="0"/>
              <a:t> </a:t>
            </a:r>
            <a:r>
              <a:rPr spc="-20" dirty="0"/>
              <a:t>paz.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Quinta</a:t>
            </a:r>
            <a:r>
              <a:rPr spc="-20" dirty="0"/>
              <a:t> </a:t>
            </a:r>
            <a:r>
              <a:rPr dirty="0"/>
              <a:t>Junge-</a:t>
            </a:r>
            <a:r>
              <a:rPr spc="-35" dirty="0"/>
              <a:t> </a:t>
            </a:r>
            <a:r>
              <a:rPr spc="-10" dirty="0"/>
              <a:t>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30" dirty="0"/>
              <a:t> </a:t>
            </a:r>
            <a:r>
              <a:rPr spc="-10" dirty="0"/>
              <a:t>SERVIU-</a:t>
            </a:r>
            <a:r>
              <a:rPr dirty="0"/>
              <a:t>SEREMI-</a:t>
            </a:r>
            <a:r>
              <a:rPr spc="-35" dirty="0"/>
              <a:t> </a:t>
            </a:r>
            <a:r>
              <a:rPr spc="-10" dirty="0"/>
              <a:t>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Colegio</a:t>
            </a:r>
            <a:r>
              <a:rPr spc="-35" dirty="0"/>
              <a:t> </a:t>
            </a:r>
            <a:r>
              <a:rPr dirty="0"/>
              <a:t>San</a:t>
            </a:r>
            <a:r>
              <a:rPr spc="-30" dirty="0"/>
              <a:t> </a:t>
            </a:r>
            <a:r>
              <a:rPr dirty="0"/>
              <a:t>Rafael</a:t>
            </a:r>
            <a:r>
              <a:rPr spc="-40" dirty="0"/>
              <a:t> </a:t>
            </a:r>
            <a:r>
              <a:rPr dirty="0"/>
              <a:t>Arcángel</a:t>
            </a:r>
            <a:r>
              <a:rPr spc="-15" dirty="0"/>
              <a:t> </a:t>
            </a:r>
            <a:r>
              <a:rPr dirty="0"/>
              <a:t>-</a:t>
            </a:r>
            <a:r>
              <a:rPr spc="245" dirty="0"/>
              <a:t> </a:t>
            </a:r>
            <a:r>
              <a:rPr dirty="0"/>
              <a:t>Los</a:t>
            </a:r>
            <a:r>
              <a:rPr spc="-20" dirty="0"/>
              <a:t> </a:t>
            </a:r>
            <a:r>
              <a:rPr spc="-10" dirty="0"/>
              <a:t>Ángeles.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MDS</a:t>
            </a:r>
            <a:r>
              <a:rPr spc="-40" dirty="0"/>
              <a:t> </a:t>
            </a:r>
            <a:r>
              <a:rPr dirty="0"/>
              <a:t>Chillán-</a:t>
            </a:r>
            <a:r>
              <a:rPr spc="-40" dirty="0"/>
              <a:t> </a:t>
            </a:r>
            <a:r>
              <a:rPr spc="-10" dirty="0"/>
              <a:t>Chillán.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05"/>
              </a:spcBef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60" dirty="0"/>
              <a:t> </a:t>
            </a:r>
            <a:r>
              <a:rPr dirty="0"/>
              <a:t>parque</a:t>
            </a:r>
            <a:r>
              <a:rPr spc="-20" dirty="0"/>
              <a:t> </a:t>
            </a:r>
            <a:r>
              <a:rPr dirty="0"/>
              <a:t>Ligure</a:t>
            </a:r>
            <a:r>
              <a:rPr spc="-1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Hualpén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dirty="0"/>
              <a:t>virgen -</a:t>
            </a:r>
            <a:r>
              <a:rPr spc="235" dirty="0"/>
              <a:t> </a:t>
            </a:r>
            <a:r>
              <a:rPr spc="-10" dirty="0"/>
              <a:t>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60" dirty="0"/>
              <a:t> </a:t>
            </a:r>
            <a:r>
              <a:rPr dirty="0"/>
              <a:t>Altos</a:t>
            </a:r>
            <a:r>
              <a:rPr spc="-35" dirty="0"/>
              <a:t> </a:t>
            </a:r>
            <a:r>
              <a:rPr dirty="0"/>
              <a:t>del</a:t>
            </a:r>
            <a:r>
              <a:rPr spc="-20" dirty="0"/>
              <a:t> </a:t>
            </a:r>
            <a:r>
              <a:rPr dirty="0"/>
              <a:t>valle-</a:t>
            </a:r>
            <a:r>
              <a:rPr spc="-30" dirty="0"/>
              <a:t> </a:t>
            </a:r>
            <a:r>
              <a:rPr spc="-10" dirty="0"/>
              <a:t>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Colegio</a:t>
            </a:r>
            <a:r>
              <a:rPr spc="-25" dirty="0"/>
              <a:t> </a:t>
            </a:r>
            <a:r>
              <a:rPr spc="-10" dirty="0"/>
              <a:t>Humanidades</a:t>
            </a:r>
            <a:r>
              <a:rPr spc="-3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Villarrica-</a:t>
            </a:r>
            <a:r>
              <a:rPr spc="-25" dirty="0"/>
              <a:t> </a:t>
            </a:r>
            <a:r>
              <a:rPr spc="-10" dirty="0"/>
              <a:t>Villarrica.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Colegio</a:t>
            </a:r>
            <a:r>
              <a:rPr spc="-40" dirty="0"/>
              <a:t> </a:t>
            </a:r>
            <a:r>
              <a:rPr dirty="0"/>
              <a:t>Seminario</a:t>
            </a:r>
            <a:r>
              <a:rPr spc="-45" dirty="0"/>
              <a:t> </a:t>
            </a:r>
            <a:r>
              <a:rPr dirty="0"/>
              <a:t>San</a:t>
            </a:r>
            <a:r>
              <a:rPr spc="-35" dirty="0"/>
              <a:t> </a:t>
            </a:r>
            <a:r>
              <a:rPr dirty="0"/>
              <a:t>Fidel-</a:t>
            </a:r>
            <a:r>
              <a:rPr spc="-35" dirty="0"/>
              <a:t> </a:t>
            </a:r>
            <a:r>
              <a:rPr dirty="0"/>
              <a:t>San</a:t>
            </a:r>
            <a:r>
              <a:rPr spc="-30" dirty="0"/>
              <a:t> </a:t>
            </a:r>
            <a:r>
              <a:rPr dirty="0"/>
              <a:t>José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spc="-10" dirty="0"/>
              <a:t>Mariquina.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60" dirty="0"/>
              <a:t> </a:t>
            </a:r>
            <a:r>
              <a:rPr dirty="0"/>
              <a:t>Rengo</a:t>
            </a:r>
            <a:r>
              <a:rPr spc="-30" dirty="0"/>
              <a:t> </a:t>
            </a:r>
            <a:r>
              <a:rPr dirty="0"/>
              <a:t>1281-</a:t>
            </a:r>
            <a:r>
              <a:rPr spc="-35" dirty="0"/>
              <a:t> </a:t>
            </a:r>
            <a:r>
              <a:rPr spc="-10" dirty="0"/>
              <a:t>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Plaza</a:t>
            </a:r>
            <a:r>
              <a:rPr spc="-20" dirty="0"/>
              <a:t> </a:t>
            </a:r>
            <a:r>
              <a:rPr dirty="0"/>
              <a:t>Los</a:t>
            </a:r>
            <a:r>
              <a:rPr spc="-20" dirty="0"/>
              <a:t> </a:t>
            </a:r>
            <a:r>
              <a:rPr dirty="0"/>
              <a:t>Canelos-</a:t>
            </a:r>
            <a:r>
              <a:rPr spc="-35" dirty="0"/>
              <a:t> </a:t>
            </a:r>
            <a:r>
              <a:rPr dirty="0"/>
              <a:t>San</a:t>
            </a:r>
            <a:r>
              <a:rPr spc="-30" dirty="0"/>
              <a:t> </a:t>
            </a:r>
            <a:r>
              <a:rPr dirty="0"/>
              <a:t>Pedro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paz.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spc="-10" dirty="0"/>
              <a:t>Condominio</a:t>
            </a:r>
            <a:r>
              <a:rPr spc="-30" dirty="0"/>
              <a:t> </a:t>
            </a:r>
            <a:r>
              <a:rPr dirty="0"/>
              <a:t>Doña</a:t>
            </a:r>
            <a:r>
              <a:rPr spc="-15" dirty="0"/>
              <a:t> </a:t>
            </a:r>
            <a:r>
              <a:rPr dirty="0"/>
              <a:t>Rosario-</a:t>
            </a:r>
            <a:r>
              <a:rPr spc="-20" dirty="0"/>
              <a:t> </a:t>
            </a:r>
            <a:r>
              <a:rPr spc="-10" dirty="0"/>
              <a:t>Talcahuano.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Espacio</a:t>
            </a:r>
            <a:r>
              <a:rPr spc="-30" dirty="0"/>
              <a:t> </a:t>
            </a:r>
            <a:r>
              <a:rPr dirty="0"/>
              <a:t>Freire-</a:t>
            </a:r>
            <a:r>
              <a:rPr spc="-35" dirty="0"/>
              <a:t> </a:t>
            </a:r>
            <a:r>
              <a:rPr dirty="0"/>
              <a:t>Los</a:t>
            </a:r>
            <a:r>
              <a:rPr spc="-15" dirty="0"/>
              <a:t> </a:t>
            </a:r>
            <a:r>
              <a:rPr spc="-10" dirty="0"/>
              <a:t>Ángeles.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Altos</a:t>
            </a:r>
            <a:r>
              <a:rPr spc="-35" dirty="0"/>
              <a:t> </a:t>
            </a:r>
            <a:r>
              <a:rPr dirty="0"/>
              <a:t>del</a:t>
            </a:r>
            <a:r>
              <a:rPr spc="-20" dirty="0"/>
              <a:t> </a:t>
            </a:r>
            <a:r>
              <a:rPr dirty="0"/>
              <a:t>parque-</a:t>
            </a:r>
            <a:r>
              <a:rPr spc="-25" dirty="0"/>
              <a:t> </a:t>
            </a:r>
            <a:r>
              <a:rPr spc="-10" dirty="0"/>
              <a:t>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Huertos</a:t>
            </a:r>
            <a:r>
              <a:rPr spc="-15" dirty="0"/>
              <a:t> </a:t>
            </a:r>
            <a:r>
              <a:rPr dirty="0"/>
              <a:t>III-</a:t>
            </a:r>
            <a:r>
              <a:rPr spc="-25" dirty="0"/>
              <a:t> </a:t>
            </a:r>
            <a:r>
              <a:rPr dirty="0"/>
              <a:t>San</a:t>
            </a:r>
            <a:r>
              <a:rPr spc="-25" dirty="0"/>
              <a:t> </a:t>
            </a:r>
            <a:r>
              <a:rPr dirty="0"/>
              <a:t>Pedro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spc="-20" dirty="0"/>
              <a:t>paz.</a:t>
            </a:r>
          </a:p>
          <a:p>
            <a:pPr marL="182880" indent="-170180">
              <a:lnSpc>
                <a:spcPct val="100000"/>
              </a:lnSpc>
              <a:spcBef>
                <a:spcPts val="5"/>
              </a:spcBef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0" dirty="0"/>
              <a:t> </a:t>
            </a:r>
            <a:r>
              <a:rPr dirty="0"/>
              <a:t>Altos</a:t>
            </a:r>
            <a:r>
              <a:rPr spc="-25" dirty="0"/>
              <a:t> </a:t>
            </a:r>
            <a:r>
              <a:rPr dirty="0"/>
              <a:t>del</a:t>
            </a:r>
            <a:r>
              <a:rPr spc="-10" dirty="0"/>
              <a:t> </a:t>
            </a:r>
            <a:r>
              <a:rPr dirty="0"/>
              <a:t>Valle</a:t>
            </a:r>
            <a:r>
              <a:rPr spc="-35" dirty="0"/>
              <a:t> </a:t>
            </a:r>
            <a:r>
              <a:rPr spc="-10" dirty="0"/>
              <a:t>III-Concepción.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45" dirty="0"/>
              <a:t> </a:t>
            </a:r>
            <a:r>
              <a:rPr dirty="0"/>
              <a:t>36Sur-</a:t>
            </a:r>
            <a:r>
              <a:rPr spc="-15" dirty="0"/>
              <a:t> </a:t>
            </a:r>
            <a:r>
              <a:rPr spc="-10" dirty="0"/>
              <a:t>Talcahuano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spc="-10" dirty="0"/>
              <a:t>Condominio</a:t>
            </a:r>
            <a:r>
              <a:rPr spc="-25" dirty="0"/>
              <a:t> </a:t>
            </a:r>
            <a:r>
              <a:rPr dirty="0"/>
              <a:t>Doña</a:t>
            </a:r>
            <a:r>
              <a:rPr spc="-5" dirty="0"/>
              <a:t> </a:t>
            </a:r>
            <a:r>
              <a:rPr dirty="0"/>
              <a:t>Sofia-</a:t>
            </a:r>
            <a:r>
              <a:rPr spc="-30" dirty="0"/>
              <a:t> </a:t>
            </a:r>
            <a:r>
              <a:rPr spc="-10" dirty="0"/>
              <a:t>Talcahuano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60" dirty="0"/>
              <a:t> </a:t>
            </a:r>
            <a:r>
              <a:rPr dirty="0"/>
              <a:t>Borde</a:t>
            </a:r>
            <a:r>
              <a:rPr spc="-20" dirty="0"/>
              <a:t> </a:t>
            </a:r>
            <a:r>
              <a:rPr dirty="0"/>
              <a:t>laguna-</a:t>
            </a:r>
            <a:r>
              <a:rPr spc="-35" dirty="0"/>
              <a:t> </a:t>
            </a:r>
            <a:r>
              <a:rPr dirty="0"/>
              <a:t>Los</a:t>
            </a:r>
            <a:r>
              <a:rPr spc="-25" dirty="0"/>
              <a:t> </a:t>
            </a:r>
            <a:r>
              <a:rPr spc="-10" dirty="0"/>
              <a:t>Ángeles.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spc="-10" dirty="0"/>
              <a:t>Polideportivo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Coyhaique-</a:t>
            </a:r>
            <a:r>
              <a:rPr spc="-15" dirty="0"/>
              <a:t> </a:t>
            </a:r>
            <a:r>
              <a:rPr spc="-10" dirty="0"/>
              <a:t>Coyhaique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spc="-10" dirty="0"/>
              <a:t>Reposición</a:t>
            </a:r>
            <a:r>
              <a:rPr spc="-35" dirty="0"/>
              <a:t> </a:t>
            </a:r>
            <a:r>
              <a:rPr dirty="0"/>
              <a:t>cuerpo</a:t>
            </a:r>
            <a:r>
              <a:rPr spc="-5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bomberos-</a:t>
            </a:r>
            <a:r>
              <a:rPr spc="-20" dirty="0"/>
              <a:t> </a:t>
            </a:r>
            <a:r>
              <a:rPr dirty="0"/>
              <a:t>Puerto</a:t>
            </a:r>
            <a:r>
              <a:rPr spc="-20" dirty="0"/>
              <a:t> </a:t>
            </a:r>
            <a:r>
              <a:rPr spc="-10" dirty="0"/>
              <a:t>Natales.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5" dirty="0"/>
              <a:t> </a:t>
            </a:r>
            <a:r>
              <a:rPr dirty="0"/>
              <a:t>San</a:t>
            </a:r>
            <a:r>
              <a:rPr spc="-30" dirty="0"/>
              <a:t> </a:t>
            </a:r>
            <a:r>
              <a:rPr dirty="0"/>
              <a:t>Andrés</a:t>
            </a:r>
            <a:r>
              <a:rPr spc="-20" dirty="0"/>
              <a:t> </a:t>
            </a:r>
            <a:r>
              <a:rPr dirty="0"/>
              <a:t>del</a:t>
            </a:r>
            <a:r>
              <a:rPr spc="-20" dirty="0"/>
              <a:t> </a:t>
            </a:r>
            <a:r>
              <a:rPr spc="-10" dirty="0"/>
              <a:t>Valle.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Paso</a:t>
            </a:r>
            <a:r>
              <a:rPr spc="-30" dirty="0"/>
              <a:t> </a:t>
            </a:r>
            <a:r>
              <a:rPr dirty="0"/>
              <a:t>Fronterizo</a:t>
            </a:r>
            <a:r>
              <a:rPr spc="-25" dirty="0"/>
              <a:t> </a:t>
            </a:r>
            <a:r>
              <a:rPr dirty="0"/>
              <a:t>Rio</a:t>
            </a:r>
            <a:r>
              <a:rPr spc="-35" dirty="0"/>
              <a:t> </a:t>
            </a:r>
            <a:r>
              <a:rPr dirty="0"/>
              <a:t>Don</a:t>
            </a:r>
            <a:r>
              <a:rPr spc="-30" dirty="0"/>
              <a:t> </a:t>
            </a:r>
            <a:r>
              <a:rPr dirty="0"/>
              <a:t>Guillermo-</a:t>
            </a:r>
            <a:r>
              <a:rPr spc="-30" dirty="0"/>
              <a:t> </a:t>
            </a:r>
            <a:r>
              <a:rPr dirty="0"/>
              <a:t>Puerto</a:t>
            </a:r>
            <a:r>
              <a:rPr spc="-35" dirty="0"/>
              <a:t> </a:t>
            </a:r>
            <a:r>
              <a:rPr spc="-10" dirty="0"/>
              <a:t>Natales.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Proyecto</a:t>
            </a:r>
            <a:r>
              <a:rPr spc="-35" dirty="0"/>
              <a:t> </a:t>
            </a:r>
            <a:r>
              <a:rPr dirty="0"/>
              <a:t>Quinta</a:t>
            </a:r>
            <a:r>
              <a:rPr spc="-50" dirty="0"/>
              <a:t> </a:t>
            </a:r>
            <a:r>
              <a:rPr dirty="0"/>
              <a:t>Agrícola-</a:t>
            </a:r>
            <a:r>
              <a:rPr spc="-50" dirty="0"/>
              <a:t> </a:t>
            </a:r>
            <a:r>
              <a:rPr spc="-10" dirty="0"/>
              <a:t>Chillán.</a:t>
            </a: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/>
              <a:t>Desarrollo</a:t>
            </a:r>
            <a:r>
              <a:rPr spc="-4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proyectos</a:t>
            </a:r>
            <a:r>
              <a:rPr spc="-30" dirty="0"/>
              <a:t> </a:t>
            </a:r>
            <a:r>
              <a:rPr dirty="0"/>
              <a:t>públicos</a:t>
            </a:r>
            <a:r>
              <a:rPr spc="-45" dirty="0"/>
              <a:t> </a:t>
            </a:r>
            <a:r>
              <a:rPr dirty="0"/>
              <a:t>en</a:t>
            </a:r>
            <a:r>
              <a:rPr spc="-25" dirty="0"/>
              <a:t> </a:t>
            </a:r>
            <a:r>
              <a:rPr dirty="0"/>
              <a:t>metodología</a:t>
            </a:r>
            <a:r>
              <a:rPr spc="-50" dirty="0"/>
              <a:t> </a:t>
            </a:r>
            <a:r>
              <a:rPr dirty="0"/>
              <a:t>BIM,</a:t>
            </a:r>
            <a:r>
              <a:rPr spc="-5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manera</a:t>
            </a:r>
            <a:r>
              <a:rPr spc="-45" dirty="0"/>
              <a:t> </a:t>
            </a:r>
            <a:r>
              <a:rPr spc="-10" dirty="0"/>
              <a:t>particular.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10" dirty="0"/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Aeródromo</a:t>
            </a:r>
            <a:r>
              <a:rPr spc="-4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Pucón.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spc="-10" dirty="0"/>
              <a:t>Polideportivo</a:t>
            </a:r>
            <a:r>
              <a:rPr spc="-15" dirty="0"/>
              <a:t> </a:t>
            </a:r>
            <a:r>
              <a:rPr dirty="0"/>
              <a:t>de Santa</a:t>
            </a:r>
            <a:r>
              <a:rPr spc="-15" dirty="0"/>
              <a:t> </a:t>
            </a:r>
            <a:r>
              <a:rPr spc="-20" dirty="0"/>
              <a:t>Cruz.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35" dirty="0"/>
              <a:t> </a:t>
            </a:r>
            <a:r>
              <a:rPr spc="-10" dirty="0"/>
              <a:t>Institucional</a:t>
            </a:r>
            <a:r>
              <a:rPr dirty="0"/>
              <a:t> SAG</a:t>
            </a:r>
            <a:r>
              <a:rPr spc="-25" dirty="0"/>
              <a:t> </a:t>
            </a:r>
            <a:r>
              <a:rPr dirty="0"/>
              <a:t>de</a:t>
            </a:r>
            <a:r>
              <a:rPr spc="5" dirty="0"/>
              <a:t> </a:t>
            </a:r>
            <a:r>
              <a:rPr spc="-10" dirty="0"/>
              <a:t>Quillota.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Edificio</a:t>
            </a:r>
            <a:r>
              <a:rPr spc="-50" dirty="0"/>
              <a:t> </a:t>
            </a:r>
            <a:r>
              <a:rPr dirty="0"/>
              <a:t>PDI</a:t>
            </a:r>
            <a:r>
              <a:rPr spc="-30" dirty="0"/>
              <a:t> </a:t>
            </a:r>
            <a:r>
              <a:rPr spc="-10" dirty="0"/>
              <a:t>Coronel.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Aeropuerto</a:t>
            </a:r>
            <a:r>
              <a:rPr spc="-50" dirty="0"/>
              <a:t> </a:t>
            </a:r>
            <a:r>
              <a:rPr dirty="0"/>
              <a:t>Mataveri-</a:t>
            </a:r>
            <a:r>
              <a:rPr spc="-35" dirty="0"/>
              <a:t> </a:t>
            </a:r>
            <a:r>
              <a:rPr dirty="0"/>
              <a:t>Rapa</a:t>
            </a:r>
            <a:r>
              <a:rPr spc="-45" dirty="0"/>
              <a:t> </a:t>
            </a:r>
            <a:r>
              <a:rPr spc="-20" dirty="0"/>
              <a:t>Nui.</a:t>
            </a:r>
          </a:p>
          <a:p>
            <a:pPr marL="182880" indent="-170180">
              <a:lnSpc>
                <a:spcPct val="100000"/>
              </a:lnSpc>
              <a:buChar char="•"/>
              <a:tabLst>
                <a:tab pos="182880" algn="l"/>
              </a:tabLst>
            </a:pPr>
            <a:r>
              <a:rPr dirty="0"/>
              <a:t>Aeródromo</a:t>
            </a:r>
            <a:r>
              <a:rPr spc="-50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dirty="0"/>
              <a:t>Florida-</a:t>
            </a:r>
            <a:r>
              <a:rPr spc="-3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spc="-10" dirty="0"/>
              <a:t>Serena.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473" y="2188609"/>
            <a:ext cx="2198514" cy="21974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282" y="2186939"/>
            <a:ext cx="2174697" cy="22631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8300" y="4602479"/>
            <a:ext cx="2628900" cy="20619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17735" y="2098548"/>
            <a:ext cx="2659380" cy="22997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6396" y="2095500"/>
            <a:ext cx="2824479" cy="23012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92814" y="4588843"/>
            <a:ext cx="1939820" cy="205269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0"/>
            <a:ext cx="334010" cy="6858000"/>
          </a:xfrm>
          <a:custGeom>
            <a:avLst/>
            <a:gdLst/>
            <a:ahLst/>
            <a:cxnLst/>
            <a:rect l="l" t="t" r="r" b="b"/>
            <a:pathLst>
              <a:path w="334010" h="6858000">
                <a:moveTo>
                  <a:pt x="333756" y="0"/>
                </a:moveTo>
                <a:lnTo>
                  <a:pt x="0" y="0"/>
                </a:lnTo>
                <a:lnTo>
                  <a:pt x="0" y="6858000"/>
                </a:lnTo>
                <a:lnTo>
                  <a:pt x="333756" y="6858000"/>
                </a:lnTo>
                <a:lnTo>
                  <a:pt x="33375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4786" y="414020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A6A6A6"/>
                </a:solidFill>
                <a:latin typeface="Arial"/>
                <a:cs typeface="Arial"/>
              </a:rPr>
              <a:t>2015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786" y="839470"/>
            <a:ext cx="359029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Arial Black"/>
                <a:cs typeface="Arial Black"/>
              </a:rPr>
              <a:t>Edificio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Michimalonco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Plaza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Pedro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</a:t>
            </a:r>
            <a:r>
              <a:rPr sz="1100" spc="-20" dirty="0">
                <a:latin typeface="Arial MT"/>
                <a:cs typeface="Arial MT"/>
              </a:rPr>
              <a:t> paz. </a:t>
            </a:r>
            <a:r>
              <a:rPr sz="1100" dirty="0">
                <a:latin typeface="Arial MT"/>
                <a:cs typeface="Arial MT"/>
              </a:rPr>
              <a:t>Superficie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10.415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4786" y="1345438"/>
            <a:ext cx="365061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coordinación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especialidades, </a:t>
            </a:r>
            <a:r>
              <a:rPr sz="1100" dirty="0">
                <a:latin typeface="Arial MT"/>
                <a:cs typeface="Arial MT"/>
              </a:rPr>
              <a:t>Control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obra.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Reduciendo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costos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tiempos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ejecución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4539" y="387476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A6A6A6"/>
                </a:solidFill>
                <a:latin typeface="Arial"/>
                <a:cs typeface="Arial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44539" y="812672"/>
            <a:ext cx="277304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Arial Black"/>
                <a:cs typeface="Arial Black"/>
              </a:rPr>
              <a:t>Edificio</a:t>
            </a:r>
            <a:r>
              <a:rPr sz="1100" spc="1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SERVIU-SEREMI</a:t>
            </a:r>
            <a:r>
              <a:rPr sz="1100" spc="-10" dirty="0">
                <a:latin typeface="Arial MT"/>
                <a:cs typeface="Arial MT"/>
              </a:rPr>
              <a:t>–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Concepción. </a:t>
            </a:r>
            <a:r>
              <a:rPr sz="1100" dirty="0">
                <a:latin typeface="Arial MT"/>
                <a:cs typeface="Arial MT"/>
              </a:rPr>
              <a:t>Superficie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9.433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539" y="1318640"/>
            <a:ext cx="483108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coordinación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especialidades,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Control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obra.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Reduciendo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costos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tiempos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ejecución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proyecto.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modelación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Etapa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334010" cy="6858000"/>
          </a:xfrm>
          <a:custGeom>
            <a:avLst/>
            <a:gdLst/>
            <a:ahLst/>
            <a:cxnLst/>
            <a:rect l="l" t="t" r="r" b="b"/>
            <a:pathLst>
              <a:path w="334010" h="6858000">
                <a:moveTo>
                  <a:pt x="333756" y="0"/>
                </a:moveTo>
                <a:lnTo>
                  <a:pt x="0" y="0"/>
                </a:lnTo>
                <a:lnTo>
                  <a:pt x="0" y="6858000"/>
                </a:lnTo>
                <a:lnTo>
                  <a:pt x="333756" y="6858000"/>
                </a:lnTo>
                <a:lnTo>
                  <a:pt x="33375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4786" y="414020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A6A6A6"/>
                </a:solidFill>
                <a:latin typeface="Arial"/>
                <a:cs typeface="Arial"/>
              </a:rPr>
              <a:t>2017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786" y="839470"/>
            <a:ext cx="317119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Arial Black"/>
                <a:cs typeface="Arial Black"/>
              </a:rPr>
              <a:t>Colegio</a:t>
            </a:r>
            <a:r>
              <a:rPr sz="1100" spc="-4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San</a:t>
            </a:r>
            <a:r>
              <a:rPr sz="1100" spc="-1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Rafael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Arcángel</a:t>
            </a:r>
            <a:r>
              <a:rPr sz="1100" spc="-2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Ángeles. </a:t>
            </a:r>
            <a:r>
              <a:rPr sz="1100" dirty="0">
                <a:latin typeface="Arial MT"/>
                <a:cs typeface="Arial MT"/>
              </a:rPr>
              <a:t>Superficie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5.467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4786" y="1345438"/>
            <a:ext cx="365061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coordinación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especialidades, </a:t>
            </a:r>
            <a:r>
              <a:rPr sz="1100" dirty="0">
                <a:latin typeface="Arial MT"/>
                <a:cs typeface="Arial MT"/>
              </a:rPr>
              <a:t>Control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obra.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Reduciendo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costos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tiempos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ejecución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4539" y="387476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A6A6A6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4539" y="812672"/>
            <a:ext cx="229298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Arial Black"/>
                <a:cs typeface="Arial Black"/>
              </a:rPr>
              <a:t>Edificio</a:t>
            </a:r>
            <a:r>
              <a:rPr sz="1100" spc="-4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La</a:t>
            </a:r>
            <a:r>
              <a:rPr sz="1100" spc="-2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virgen</a:t>
            </a:r>
            <a:r>
              <a:rPr sz="1100" spc="-2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Concepción. </a:t>
            </a:r>
            <a:r>
              <a:rPr sz="1100" dirty="0">
                <a:latin typeface="Arial MT"/>
                <a:cs typeface="Arial MT"/>
              </a:rPr>
              <a:t>Superficie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6.106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4539" y="1318640"/>
            <a:ext cx="538289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coordinación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especialidades,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Control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obra.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Reduciendo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costos 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tiempos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ejecución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Acompañado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revisión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ITO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obra.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409" y="2163987"/>
            <a:ext cx="4510735" cy="196873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868" y="4378550"/>
            <a:ext cx="2378888" cy="161369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5555" y="5177259"/>
            <a:ext cx="2087853" cy="132090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6979" y="4567515"/>
            <a:ext cx="2048645" cy="190796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6174433" y="1389888"/>
            <a:ext cx="6017895" cy="2952115"/>
            <a:chOff x="6174433" y="1389888"/>
            <a:chExt cx="6017895" cy="295211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4433" y="2308788"/>
              <a:ext cx="2745185" cy="19416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5776" y="1389888"/>
              <a:ext cx="3316224" cy="29519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7104" y="2447695"/>
            <a:ext cx="5198363" cy="191074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334010" cy="6858000"/>
          </a:xfrm>
          <a:custGeom>
            <a:avLst/>
            <a:gdLst/>
            <a:ahLst/>
            <a:cxnLst/>
            <a:rect l="l" t="t" r="r" b="b"/>
            <a:pathLst>
              <a:path w="334010" h="6858000">
                <a:moveTo>
                  <a:pt x="333756" y="0"/>
                </a:moveTo>
                <a:lnTo>
                  <a:pt x="0" y="0"/>
                </a:lnTo>
                <a:lnTo>
                  <a:pt x="0" y="6858000"/>
                </a:lnTo>
                <a:lnTo>
                  <a:pt x="333756" y="6858000"/>
                </a:lnTo>
                <a:lnTo>
                  <a:pt x="33375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4786" y="414020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A6A6A6"/>
                </a:solidFill>
                <a:latin typeface="Arial"/>
                <a:cs typeface="Arial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4786" y="839470"/>
            <a:ext cx="340296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Arial Black"/>
                <a:cs typeface="Arial Black"/>
              </a:rPr>
              <a:t>Colegio</a:t>
            </a:r>
            <a:r>
              <a:rPr sz="1100" spc="-5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Humanidades</a:t>
            </a:r>
            <a:r>
              <a:rPr sz="1100" spc="-2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de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Villarrica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Villarrica. </a:t>
            </a:r>
            <a:r>
              <a:rPr sz="1100" dirty="0">
                <a:latin typeface="Arial MT"/>
                <a:cs typeface="Arial MT"/>
              </a:rPr>
              <a:t>Superficie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10.000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786" y="1345438"/>
            <a:ext cx="508571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5115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coordinación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especialidades,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control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desarrollo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obra.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Reduciendo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costos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tiempos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ejecución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Proyecto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integral,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considerando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diferentes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área,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hasta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iglesia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dentro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4539" y="387476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A6A6A6"/>
                </a:solidFill>
                <a:latin typeface="Arial"/>
                <a:cs typeface="Arial"/>
              </a:rPr>
              <a:t>2020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4539" y="812672"/>
            <a:ext cx="331089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Arial Black"/>
                <a:cs typeface="Arial Black"/>
              </a:rPr>
              <a:t>Polideportivo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IND</a:t>
            </a:r>
            <a:r>
              <a:rPr sz="1100" spc="-7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de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Coyhaique</a:t>
            </a:r>
            <a:r>
              <a:rPr sz="1100" spc="-2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Coyhaique. </a:t>
            </a:r>
            <a:r>
              <a:rPr sz="1100" dirty="0">
                <a:latin typeface="Arial MT"/>
                <a:cs typeface="Arial MT"/>
              </a:rPr>
              <a:t>Superficie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4.115,90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4539" y="1318640"/>
            <a:ext cx="531241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coordinación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especialidades,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Control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desarrollo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obra.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Reduciendo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costos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tiempos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ejecución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proyecto.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Gestión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revisión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inspector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fiscal.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068" y="2197607"/>
            <a:ext cx="6044565" cy="4660900"/>
            <a:chOff x="544068" y="2197607"/>
            <a:chExt cx="6044565" cy="46609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55" y="2197607"/>
              <a:ext cx="4913376" cy="16332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068" y="3864863"/>
              <a:ext cx="3803684" cy="17891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4027" y="4226051"/>
              <a:ext cx="2554224" cy="13487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3456" y="5175503"/>
              <a:ext cx="3860292" cy="1682495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1427" y="4550715"/>
            <a:ext cx="4573476" cy="1949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56904" y="0"/>
            <a:ext cx="3434079" cy="6858000"/>
          </a:xfrm>
          <a:custGeom>
            <a:avLst/>
            <a:gdLst/>
            <a:ahLst/>
            <a:cxnLst/>
            <a:rect l="l" t="t" r="r" b="b"/>
            <a:pathLst>
              <a:path w="3434079" h="6858000">
                <a:moveTo>
                  <a:pt x="3433572" y="0"/>
                </a:moveTo>
                <a:lnTo>
                  <a:pt x="0" y="0"/>
                </a:lnTo>
                <a:lnTo>
                  <a:pt x="0" y="6858000"/>
                </a:lnTo>
                <a:lnTo>
                  <a:pt x="3433572" y="6858000"/>
                </a:lnTo>
                <a:lnTo>
                  <a:pt x="343357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998091" cy="6858000"/>
            <a:chOff x="0" y="0"/>
            <a:chExt cx="1998091" cy="6858000"/>
          </a:xfrm>
        </p:grpSpPr>
        <p:sp>
          <p:nvSpPr>
            <p:cNvPr id="4" name="object 4"/>
            <p:cNvSpPr/>
            <p:nvPr/>
          </p:nvSpPr>
          <p:spPr>
            <a:xfrm>
              <a:off x="333756" y="414527"/>
              <a:ext cx="1664335" cy="307975"/>
            </a:xfrm>
            <a:custGeom>
              <a:avLst/>
              <a:gdLst/>
              <a:ahLst/>
              <a:cxnLst/>
              <a:rect l="l" t="t" r="r" b="b"/>
              <a:pathLst>
                <a:path w="1664335" h="307975">
                  <a:moveTo>
                    <a:pt x="0" y="307848"/>
                  </a:moveTo>
                  <a:lnTo>
                    <a:pt x="1664208" y="307848"/>
                  </a:lnTo>
                  <a:lnTo>
                    <a:pt x="1664208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solidFill>
              <a:srgbClr val="E4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34010" cy="6858000"/>
            </a:xfrm>
            <a:custGeom>
              <a:avLst/>
              <a:gdLst/>
              <a:ahLst/>
              <a:cxnLst/>
              <a:rect l="l" t="t" r="r" b="b"/>
              <a:pathLst>
                <a:path w="334010" h="6858000">
                  <a:moveTo>
                    <a:pt x="3337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33756" y="6858000"/>
                  </a:lnTo>
                  <a:lnTo>
                    <a:pt x="33375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057" y="479805"/>
              <a:ext cx="491490" cy="21031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87095" y="3123057"/>
            <a:ext cx="3534410" cy="2912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Black"/>
                <a:cs typeface="Arial Black"/>
              </a:rPr>
              <a:t>Proyecto</a:t>
            </a:r>
            <a:r>
              <a:rPr sz="1050" spc="-50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Quinta</a:t>
            </a:r>
            <a:r>
              <a:rPr sz="1050" spc="-25" dirty="0">
                <a:latin typeface="Arial Black"/>
                <a:cs typeface="Arial Black"/>
              </a:rPr>
              <a:t> </a:t>
            </a:r>
            <a:r>
              <a:rPr sz="1050" spc="-10" dirty="0">
                <a:latin typeface="Arial Black"/>
                <a:cs typeface="Arial Black"/>
              </a:rPr>
              <a:t>Agrícola</a:t>
            </a:r>
            <a:endParaRPr sz="10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dirty="0">
                <a:latin typeface="Arial MT"/>
                <a:cs typeface="Arial MT"/>
              </a:rPr>
              <a:t>Chillán-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Región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Ñuble.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marR="1818005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Superficie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11.669,11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m2 </a:t>
            </a:r>
            <a:r>
              <a:rPr sz="1050" dirty="0">
                <a:latin typeface="Arial MT"/>
                <a:cs typeface="Arial MT"/>
              </a:rPr>
              <a:t>Mandante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-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Inmobiliaria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FG.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Revisión</a:t>
            </a:r>
            <a:r>
              <a:rPr sz="1050" spc="3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3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modelación</a:t>
            </a:r>
            <a:r>
              <a:rPr sz="1050" spc="3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BIM,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</a:t>
            </a:r>
            <a:r>
              <a:rPr sz="1050" spc="3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proyecto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inmobiliario </a:t>
            </a:r>
            <a:r>
              <a:rPr sz="1050" dirty="0">
                <a:latin typeface="Arial MT"/>
                <a:cs typeface="Arial MT"/>
              </a:rPr>
              <a:t>ubicado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ciudad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Chillán.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Consiste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desarrollo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revisión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edificio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tipo,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maestro.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Se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desarrolla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coordinación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todas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sus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especialidades, </a:t>
            </a:r>
            <a:r>
              <a:rPr sz="1050" dirty="0">
                <a:latin typeface="Arial MT"/>
                <a:cs typeface="Arial MT"/>
              </a:rPr>
              <a:t>generando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control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previo</a:t>
            </a:r>
            <a:r>
              <a:rPr sz="1050" spc="204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ejecución.</a:t>
            </a:r>
            <a:r>
              <a:rPr sz="1050" spc="1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otra</a:t>
            </a:r>
            <a:r>
              <a:rPr sz="1050" spc="1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parte</a:t>
            </a:r>
            <a:r>
              <a:rPr sz="1050" spc="204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se </a:t>
            </a:r>
            <a:r>
              <a:rPr sz="1050" dirty="0">
                <a:latin typeface="Arial MT"/>
                <a:cs typeface="Arial MT"/>
              </a:rPr>
              <a:t>obtienen</a:t>
            </a:r>
            <a:r>
              <a:rPr sz="1050" spc="28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desde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modelos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cubicaciones</a:t>
            </a:r>
            <a:r>
              <a:rPr sz="1050" spc="2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planimetría</a:t>
            </a:r>
            <a:r>
              <a:rPr sz="1050" spc="28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de </a:t>
            </a:r>
            <a:r>
              <a:rPr sz="1050" spc="-10" dirty="0">
                <a:latin typeface="Arial MT"/>
                <a:cs typeface="Arial MT"/>
              </a:rPr>
              <a:t>coordinación.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Revisión</a:t>
            </a:r>
            <a:r>
              <a:rPr sz="1050" spc="16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5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proyecto</a:t>
            </a:r>
            <a:r>
              <a:rPr sz="1050" spc="15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integral</a:t>
            </a:r>
            <a:r>
              <a:rPr sz="1050" spc="16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5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master</a:t>
            </a:r>
            <a:r>
              <a:rPr sz="1050" spc="15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plan,</a:t>
            </a:r>
            <a:r>
              <a:rPr sz="1050" spc="155" dirty="0">
                <a:latin typeface="Arial MT"/>
                <a:cs typeface="Arial MT"/>
              </a:rPr>
              <a:t>  </a:t>
            </a:r>
            <a:r>
              <a:rPr sz="1050" spc="-25" dirty="0">
                <a:latin typeface="Arial MT"/>
                <a:cs typeface="Arial MT"/>
              </a:rPr>
              <a:t>con </a:t>
            </a: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1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pavimentos,</a:t>
            </a:r>
            <a:r>
              <a:rPr sz="1050" spc="1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áreas</a:t>
            </a:r>
            <a:r>
              <a:rPr sz="1050" spc="1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verdes</a:t>
            </a:r>
            <a:r>
              <a:rPr sz="1050" spc="1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1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</a:t>
            </a:r>
            <a:r>
              <a:rPr sz="1050" spc="19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integración </a:t>
            </a:r>
            <a:r>
              <a:rPr sz="1050" dirty="0">
                <a:latin typeface="Arial MT"/>
                <a:cs typeface="Arial MT"/>
              </a:rPr>
              <a:t>con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edificio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tipo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dentro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proyecto.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0056" y="65531"/>
            <a:ext cx="3296411" cy="254355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814371" y="2665031"/>
            <a:ext cx="3317240" cy="2110105"/>
            <a:chOff x="8814371" y="2665031"/>
            <a:chExt cx="3317240" cy="211010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3959" y="2674620"/>
              <a:ext cx="3297936" cy="2090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819133" y="2669794"/>
              <a:ext cx="3307715" cy="2100580"/>
            </a:xfrm>
            <a:custGeom>
              <a:avLst/>
              <a:gdLst/>
              <a:ahLst/>
              <a:cxnLst/>
              <a:rect l="l" t="t" r="r" b="b"/>
              <a:pathLst>
                <a:path w="3307715" h="2100579">
                  <a:moveTo>
                    <a:pt x="0" y="2100453"/>
                  </a:moveTo>
                  <a:lnTo>
                    <a:pt x="3307460" y="2100453"/>
                  </a:lnTo>
                  <a:lnTo>
                    <a:pt x="3307460" y="0"/>
                  </a:lnTo>
                  <a:lnTo>
                    <a:pt x="0" y="0"/>
                  </a:lnTo>
                  <a:lnTo>
                    <a:pt x="0" y="2100453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23959" y="4838698"/>
            <a:ext cx="3297936" cy="1953768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664981" y="637255"/>
            <a:ext cx="3935095" cy="5895975"/>
            <a:chOff x="4664981" y="637255"/>
            <a:chExt cx="3935095" cy="589597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4981" y="3272028"/>
              <a:ext cx="3934926" cy="31546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8034" y="637255"/>
              <a:ext cx="3768697" cy="248843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80788" y="2299716"/>
              <a:ext cx="3731260" cy="4233545"/>
            </a:xfrm>
            <a:custGeom>
              <a:avLst/>
              <a:gdLst/>
              <a:ahLst/>
              <a:cxnLst/>
              <a:rect l="l" t="t" r="r" b="b"/>
              <a:pathLst>
                <a:path w="3731259" h="4233545">
                  <a:moveTo>
                    <a:pt x="0" y="121920"/>
                  </a:moveTo>
                  <a:lnTo>
                    <a:pt x="0" y="3337636"/>
                  </a:lnTo>
                </a:path>
                <a:path w="3731259" h="4233545">
                  <a:moveTo>
                    <a:pt x="1493520" y="713232"/>
                  </a:moveTo>
                  <a:lnTo>
                    <a:pt x="1493520" y="4233278"/>
                  </a:lnTo>
                </a:path>
                <a:path w="3731259" h="4233545">
                  <a:moveTo>
                    <a:pt x="3730752" y="0"/>
                  </a:moveTo>
                  <a:lnTo>
                    <a:pt x="3730752" y="2953385"/>
                  </a:lnTo>
                </a:path>
                <a:path w="3731259" h="4233545">
                  <a:moveTo>
                    <a:pt x="3305556" y="213360"/>
                  </a:moveTo>
                  <a:lnTo>
                    <a:pt x="3305556" y="1564640"/>
                  </a:lnTo>
                </a:path>
              </a:pathLst>
            </a:custGeom>
            <a:ln w="6350">
              <a:solidFill>
                <a:srgbClr val="BEBEBE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4679" y="5933897"/>
              <a:ext cx="683006" cy="40504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3518" y="2679191"/>
              <a:ext cx="688642" cy="3547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56904" y="0"/>
            <a:ext cx="3434079" cy="6858000"/>
          </a:xfrm>
          <a:custGeom>
            <a:avLst/>
            <a:gdLst/>
            <a:ahLst/>
            <a:cxnLst/>
            <a:rect l="l" t="t" r="r" b="b"/>
            <a:pathLst>
              <a:path w="3434079" h="6858000">
                <a:moveTo>
                  <a:pt x="3433572" y="0"/>
                </a:moveTo>
                <a:lnTo>
                  <a:pt x="0" y="0"/>
                </a:lnTo>
                <a:lnTo>
                  <a:pt x="0" y="6858000"/>
                </a:lnTo>
                <a:lnTo>
                  <a:pt x="3433572" y="6858000"/>
                </a:lnTo>
                <a:lnTo>
                  <a:pt x="343357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998091" cy="6858000"/>
            <a:chOff x="0" y="0"/>
            <a:chExt cx="1998091" cy="6858000"/>
          </a:xfrm>
        </p:grpSpPr>
        <p:sp>
          <p:nvSpPr>
            <p:cNvPr id="4" name="object 4"/>
            <p:cNvSpPr/>
            <p:nvPr/>
          </p:nvSpPr>
          <p:spPr>
            <a:xfrm>
              <a:off x="333756" y="414527"/>
              <a:ext cx="1664335" cy="307975"/>
            </a:xfrm>
            <a:custGeom>
              <a:avLst/>
              <a:gdLst/>
              <a:ahLst/>
              <a:cxnLst/>
              <a:rect l="l" t="t" r="r" b="b"/>
              <a:pathLst>
                <a:path w="1664335" h="307975">
                  <a:moveTo>
                    <a:pt x="0" y="307848"/>
                  </a:moveTo>
                  <a:lnTo>
                    <a:pt x="1664208" y="307848"/>
                  </a:lnTo>
                  <a:lnTo>
                    <a:pt x="1664208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solidFill>
              <a:srgbClr val="E4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34010" cy="6858000"/>
            </a:xfrm>
            <a:custGeom>
              <a:avLst/>
              <a:gdLst/>
              <a:ahLst/>
              <a:cxnLst/>
              <a:rect l="l" t="t" r="r" b="b"/>
              <a:pathLst>
                <a:path w="334010" h="6858000">
                  <a:moveTo>
                    <a:pt x="3337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33756" y="6858000"/>
                  </a:lnTo>
                  <a:lnTo>
                    <a:pt x="33375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057" y="479805"/>
              <a:ext cx="531495" cy="21031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87095" y="3123057"/>
            <a:ext cx="3534410" cy="3072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Black"/>
                <a:cs typeface="Arial Black"/>
              </a:rPr>
              <a:t>Paso</a:t>
            </a:r>
            <a:r>
              <a:rPr sz="1050" spc="-35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Fronterizo</a:t>
            </a:r>
            <a:r>
              <a:rPr sz="1050" spc="-35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Rio</a:t>
            </a:r>
            <a:r>
              <a:rPr sz="1050" spc="-20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Don</a:t>
            </a:r>
            <a:r>
              <a:rPr sz="1050" spc="-10" dirty="0">
                <a:latin typeface="Arial Black"/>
                <a:cs typeface="Arial Black"/>
              </a:rPr>
              <a:t> Guillermo</a:t>
            </a:r>
            <a:endParaRPr sz="105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35"/>
              </a:spcBef>
            </a:pPr>
            <a:r>
              <a:rPr sz="1050" dirty="0">
                <a:latin typeface="Arial MT"/>
                <a:cs typeface="Arial MT"/>
              </a:rPr>
              <a:t>Puerto</a:t>
            </a:r>
            <a:r>
              <a:rPr sz="1050" spc="2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Natales</a:t>
            </a:r>
            <a:r>
              <a:rPr sz="1050" spc="2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2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Región</a:t>
            </a:r>
            <a:r>
              <a:rPr sz="1050" spc="2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2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Magallanes</a:t>
            </a:r>
            <a:r>
              <a:rPr sz="1050" spc="2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28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30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Antártica Chilena.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Superficie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13.265,87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m2</a:t>
            </a: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Mandante</a:t>
            </a:r>
            <a:r>
              <a:rPr sz="1050" spc="1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1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Delegación</a:t>
            </a:r>
            <a:r>
              <a:rPr sz="1050" spc="1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presidencial</a:t>
            </a:r>
            <a:r>
              <a:rPr sz="1050" spc="1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provincia</a:t>
            </a:r>
            <a:r>
              <a:rPr sz="1050" spc="1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9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ultima </a:t>
            </a:r>
            <a:r>
              <a:rPr sz="1050" dirty="0">
                <a:latin typeface="Arial MT"/>
                <a:cs typeface="Arial MT"/>
              </a:rPr>
              <a:t>esperanza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Prado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Arquitectos.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Revisión</a:t>
            </a:r>
            <a:r>
              <a:rPr sz="1050" spc="3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3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modelación</a:t>
            </a:r>
            <a:r>
              <a:rPr sz="1050" spc="3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BIM,</a:t>
            </a:r>
            <a:r>
              <a:rPr sz="1050" spc="3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</a:t>
            </a:r>
            <a:r>
              <a:rPr sz="1050" spc="3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proyecto</a:t>
            </a:r>
            <a:r>
              <a:rPr sz="1050" spc="3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publico</a:t>
            </a:r>
            <a:r>
              <a:rPr sz="1050" spc="3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en </a:t>
            </a:r>
            <a:r>
              <a:rPr sz="1050" dirty="0">
                <a:latin typeface="Arial MT"/>
                <a:cs typeface="Arial MT"/>
              </a:rPr>
              <a:t>frontera</a:t>
            </a:r>
            <a:r>
              <a:rPr sz="1050" spc="3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Chile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3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Argentina,</a:t>
            </a:r>
            <a:r>
              <a:rPr sz="1050" spc="3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desarrollado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</a:t>
            </a:r>
            <a:r>
              <a:rPr sz="1050" spc="3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ambos </a:t>
            </a:r>
            <a:r>
              <a:rPr sz="1050" dirty="0">
                <a:latin typeface="Arial MT"/>
                <a:cs typeface="Arial MT"/>
              </a:rPr>
              <a:t>países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solución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área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fronteriza.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Se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desarrolla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coordinación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todas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sus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especialidades, </a:t>
            </a:r>
            <a:r>
              <a:rPr sz="1050" dirty="0">
                <a:latin typeface="Arial MT"/>
                <a:cs typeface="Arial MT"/>
              </a:rPr>
              <a:t>generando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control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previo</a:t>
            </a:r>
            <a:r>
              <a:rPr sz="1050" spc="204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ejecución.</a:t>
            </a:r>
            <a:r>
              <a:rPr sz="1050" spc="1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</a:t>
            </a:r>
            <a:r>
              <a:rPr sz="1050" spc="2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otra</a:t>
            </a:r>
            <a:r>
              <a:rPr sz="1050" spc="1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parte</a:t>
            </a:r>
            <a:r>
              <a:rPr sz="1050" spc="204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se </a:t>
            </a:r>
            <a:r>
              <a:rPr sz="1050" dirty="0">
                <a:latin typeface="Arial MT"/>
                <a:cs typeface="Arial MT"/>
              </a:rPr>
              <a:t>obtienen</a:t>
            </a:r>
            <a:r>
              <a:rPr sz="1050" spc="28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desde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modelos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cubicaciones</a:t>
            </a:r>
            <a:r>
              <a:rPr sz="1050" spc="2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planimetría</a:t>
            </a:r>
            <a:r>
              <a:rPr sz="1050" spc="28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de </a:t>
            </a:r>
            <a:r>
              <a:rPr sz="1050" spc="-10" dirty="0">
                <a:latin typeface="Arial MT"/>
                <a:cs typeface="Arial MT"/>
              </a:rPr>
              <a:t>coordinación.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Proyecto</a:t>
            </a:r>
            <a:r>
              <a:rPr sz="1050" spc="114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2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alta</a:t>
            </a:r>
            <a:r>
              <a:rPr sz="1050" spc="114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complejidad</a:t>
            </a:r>
            <a:r>
              <a:rPr sz="1050" spc="12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por</a:t>
            </a:r>
            <a:r>
              <a:rPr sz="1050" spc="11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las</a:t>
            </a:r>
            <a:r>
              <a:rPr sz="1050" spc="120" dirty="0">
                <a:latin typeface="Arial MT"/>
                <a:cs typeface="Arial MT"/>
              </a:rPr>
              <a:t>  </a:t>
            </a:r>
            <a:r>
              <a:rPr sz="1050" spc="-10" dirty="0">
                <a:latin typeface="Arial MT"/>
                <a:cs typeface="Arial MT"/>
              </a:rPr>
              <a:t>especialidades vinculantes.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92396" y="585216"/>
            <a:ext cx="3790315" cy="5641975"/>
            <a:chOff x="4692396" y="585216"/>
            <a:chExt cx="3790315" cy="56419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9274" y="2662842"/>
              <a:ext cx="3477410" cy="13558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3836" y="4499174"/>
              <a:ext cx="3520369" cy="16909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92396" y="585216"/>
              <a:ext cx="3790187" cy="13975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99076" y="1277112"/>
              <a:ext cx="3477895" cy="4907280"/>
            </a:xfrm>
            <a:custGeom>
              <a:avLst/>
              <a:gdLst/>
              <a:ahLst/>
              <a:cxnLst/>
              <a:rect l="l" t="t" r="r" b="b"/>
              <a:pathLst>
                <a:path w="3477895" h="4907280">
                  <a:moveTo>
                    <a:pt x="0" y="199643"/>
                  </a:moveTo>
                  <a:lnTo>
                    <a:pt x="0" y="4303395"/>
                  </a:lnTo>
                </a:path>
                <a:path w="3477895" h="4907280">
                  <a:moveTo>
                    <a:pt x="1242060" y="588263"/>
                  </a:moveTo>
                  <a:lnTo>
                    <a:pt x="1242060" y="4907267"/>
                  </a:lnTo>
                </a:path>
                <a:path w="3477895" h="4907280">
                  <a:moveTo>
                    <a:pt x="3477768" y="0"/>
                  </a:moveTo>
                  <a:lnTo>
                    <a:pt x="3477768" y="4181729"/>
                  </a:lnTo>
                </a:path>
                <a:path w="3477895" h="4907280">
                  <a:moveTo>
                    <a:pt x="2264664" y="335279"/>
                  </a:moveTo>
                  <a:lnTo>
                    <a:pt x="2264664" y="3493262"/>
                  </a:lnTo>
                </a:path>
              </a:pathLst>
            </a:custGeom>
            <a:ln w="6350">
              <a:solidFill>
                <a:srgbClr val="BEBEBE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2581" y="1659255"/>
              <a:ext cx="715264" cy="27851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0117" y="5830138"/>
              <a:ext cx="687197" cy="39683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1580" y="4639054"/>
            <a:ext cx="3308604" cy="21686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31580" y="2662427"/>
            <a:ext cx="3299460" cy="192024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31580" y="50292"/>
            <a:ext cx="3299460" cy="2545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998091" cy="6858000"/>
            <a:chOff x="0" y="0"/>
            <a:chExt cx="1998091" cy="6858000"/>
          </a:xfrm>
        </p:grpSpPr>
        <p:sp>
          <p:nvSpPr>
            <p:cNvPr id="3" name="object 3"/>
            <p:cNvSpPr/>
            <p:nvPr/>
          </p:nvSpPr>
          <p:spPr>
            <a:xfrm>
              <a:off x="333756" y="414527"/>
              <a:ext cx="1664335" cy="307975"/>
            </a:xfrm>
            <a:custGeom>
              <a:avLst/>
              <a:gdLst/>
              <a:ahLst/>
              <a:cxnLst/>
              <a:rect l="l" t="t" r="r" b="b"/>
              <a:pathLst>
                <a:path w="1664335" h="307975">
                  <a:moveTo>
                    <a:pt x="0" y="307848"/>
                  </a:moveTo>
                  <a:lnTo>
                    <a:pt x="1664208" y="307848"/>
                  </a:lnTo>
                  <a:lnTo>
                    <a:pt x="1664208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solidFill>
              <a:srgbClr val="E4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334010" cy="6858000"/>
            </a:xfrm>
            <a:custGeom>
              <a:avLst/>
              <a:gdLst/>
              <a:ahLst/>
              <a:cxnLst/>
              <a:rect l="l" t="t" r="r" b="b"/>
              <a:pathLst>
                <a:path w="334010" h="6858000">
                  <a:moveTo>
                    <a:pt x="3337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33756" y="6858000"/>
                  </a:lnTo>
                  <a:lnTo>
                    <a:pt x="33375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057" y="479805"/>
              <a:ext cx="531495" cy="21031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87095" y="2917316"/>
            <a:ext cx="3226435" cy="3392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Black"/>
                <a:cs typeface="Arial Black"/>
              </a:rPr>
              <a:t>Aeropuerto</a:t>
            </a:r>
            <a:r>
              <a:rPr sz="1050" spc="-65" dirty="0">
                <a:latin typeface="Arial Black"/>
                <a:cs typeface="Arial Black"/>
              </a:rPr>
              <a:t> </a:t>
            </a:r>
            <a:r>
              <a:rPr sz="1050" spc="-10" dirty="0">
                <a:latin typeface="Arial Black"/>
                <a:cs typeface="Arial Black"/>
              </a:rPr>
              <a:t>Mataveri</a:t>
            </a:r>
            <a:endParaRPr sz="1050">
              <a:latin typeface="Arial Black"/>
              <a:cs typeface="Arial Black"/>
            </a:endParaRPr>
          </a:p>
          <a:p>
            <a:pPr marL="12700" marR="1171575">
              <a:lnSpc>
                <a:spcPct val="100000"/>
              </a:lnSpc>
              <a:spcBef>
                <a:spcPts val="35"/>
              </a:spcBef>
            </a:pPr>
            <a:r>
              <a:rPr sz="1050" dirty="0">
                <a:latin typeface="Arial MT"/>
                <a:cs typeface="Arial MT"/>
              </a:rPr>
              <a:t>Rapa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Nui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Región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Valparaíso. Polinesia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Oceánica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marR="1985645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Superficie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4.500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m2 </a:t>
            </a:r>
            <a:r>
              <a:rPr sz="1050" dirty="0">
                <a:latin typeface="Arial MT"/>
                <a:cs typeface="Arial MT"/>
              </a:rPr>
              <a:t>Mandante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TYPSA.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modelación</a:t>
            </a:r>
            <a:r>
              <a:rPr sz="1050" spc="3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3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coordinación</a:t>
            </a:r>
            <a:r>
              <a:rPr sz="1050" spc="3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BIM,</a:t>
            </a:r>
            <a:r>
              <a:rPr sz="1050" spc="3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en </a:t>
            </a:r>
            <a:r>
              <a:rPr sz="1050" dirty="0">
                <a:latin typeface="Arial MT"/>
                <a:cs typeface="Arial MT"/>
              </a:rPr>
              <a:t>gestión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proyecto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Aeronáutico </a:t>
            </a:r>
            <a:r>
              <a:rPr sz="1050" dirty="0">
                <a:latin typeface="Arial MT"/>
                <a:cs typeface="Arial MT"/>
              </a:rPr>
              <a:t>bajo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metodología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PlanBIM.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Se</a:t>
            </a:r>
            <a:r>
              <a:rPr sz="1050" spc="32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desarrolla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32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modelación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todas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spc="-25" dirty="0">
                <a:latin typeface="Arial MT"/>
                <a:cs typeface="Arial MT"/>
              </a:rPr>
              <a:t>sus </a:t>
            </a:r>
            <a:r>
              <a:rPr sz="1050" dirty="0">
                <a:latin typeface="Arial MT"/>
                <a:cs typeface="Arial MT"/>
              </a:rPr>
              <a:t>especialidades,</a:t>
            </a:r>
            <a:r>
              <a:rPr sz="1050" spc="24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con</a:t>
            </a:r>
            <a:r>
              <a:rPr sz="1050" spc="24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cruce</a:t>
            </a:r>
            <a:r>
              <a:rPr sz="1050" spc="25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24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interferencias</a:t>
            </a:r>
            <a:r>
              <a:rPr sz="1050" spc="240" dirty="0">
                <a:latin typeface="Arial MT"/>
                <a:cs typeface="Arial MT"/>
              </a:rPr>
              <a:t>  </a:t>
            </a:r>
            <a:r>
              <a:rPr sz="1050" spc="-60" dirty="0">
                <a:latin typeface="Arial MT"/>
                <a:cs typeface="Arial MT"/>
              </a:rPr>
              <a:t>y </a:t>
            </a:r>
            <a:r>
              <a:rPr sz="1050" dirty="0">
                <a:latin typeface="Arial MT"/>
                <a:cs typeface="Arial MT"/>
              </a:rPr>
              <a:t>parametrización,</a:t>
            </a:r>
            <a:r>
              <a:rPr sz="1050" spc="335" dirty="0">
                <a:latin typeface="Arial MT"/>
                <a:cs typeface="Arial MT"/>
              </a:rPr>
              <a:t> 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40" dirty="0">
                <a:latin typeface="Arial MT"/>
                <a:cs typeface="Arial MT"/>
              </a:rPr>
              <a:t>   </a:t>
            </a:r>
            <a:r>
              <a:rPr sz="1050" dirty="0">
                <a:latin typeface="Arial MT"/>
                <a:cs typeface="Arial MT"/>
              </a:rPr>
              <a:t>panera</a:t>
            </a:r>
            <a:r>
              <a:rPr sz="1050" spc="340" dirty="0">
                <a:latin typeface="Arial MT"/>
                <a:cs typeface="Arial MT"/>
              </a:rPr>
              <a:t> 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40" dirty="0">
                <a:latin typeface="Arial MT"/>
                <a:cs typeface="Arial MT"/>
              </a:rPr>
              <a:t>   </a:t>
            </a:r>
            <a:r>
              <a:rPr sz="1050" spc="-10" dirty="0">
                <a:latin typeface="Arial MT"/>
                <a:cs typeface="Arial MT"/>
              </a:rPr>
              <a:t>gestiona </a:t>
            </a:r>
            <a:r>
              <a:rPr sz="1050" dirty="0">
                <a:latin typeface="Arial MT"/>
                <a:cs typeface="Arial MT"/>
              </a:rPr>
              <a:t>adecuadamente el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control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cambios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obtención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de </a:t>
            </a:r>
            <a:r>
              <a:rPr sz="1050" dirty="0">
                <a:latin typeface="Arial MT"/>
                <a:cs typeface="Arial MT"/>
              </a:rPr>
              <a:t>cubicaciones,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además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</a:t>
            </a:r>
            <a:r>
              <a:rPr sz="1050" spc="114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laminas</a:t>
            </a:r>
            <a:r>
              <a:rPr sz="1050" spc="114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por </a:t>
            </a:r>
            <a:r>
              <a:rPr sz="1050" spc="-10" dirty="0">
                <a:latin typeface="Arial MT"/>
                <a:cs typeface="Arial MT"/>
              </a:rPr>
              <a:t>proyecto.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Enfocada</a:t>
            </a:r>
            <a:r>
              <a:rPr sz="1050" spc="33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principalmente</a:t>
            </a:r>
            <a:r>
              <a:rPr sz="1050" spc="34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en</a:t>
            </a:r>
            <a:r>
              <a:rPr sz="1050" spc="34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cumplimiento</a:t>
            </a:r>
            <a:r>
              <a:rPr sz="1050" spc="340" dirty="0">
                <a:latin typeface="Arial MT"/>
                <a:cs typeface="Arial MT"/>
              </a:rPr>
              <a:t>  </a:t>
            </a:r>
            <a:r>
              <a:rPr sz="1050" spc="-25" dirty="0">
                <a:latin typeface="Arial MT"/>
                <a:cs typeface="Arial MT"/>
              </a:rPr>
              <a:t>de </a:t>
            </a:r>
            <a:r>
              <a:rPr sz="1050" dirty="0">
                <a:latin typeface="Arial MT"/>
                <a:cs typeface="Arial MT"/>
              </a:rPr>
              <a:t>normativa</a:t>
            </a:r>
            <a:r>
              <a:rPr sz="1050" spc="3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3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DGAC,</a:t>
            </a:r>
            <a:r>
              <a:rPr sz="1050" spc="2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</a:t>
            </a:r>
            <a:r>
              <a:rPr sz="1050" spc="3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3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implementación</a:t>
            </a:r>
            <a:r>
              <a:rPr sz="1050" spc="30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y </a:t>
            </a: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proyectos.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0152" y="4512564"/>
            <a:ext cx="5472684" cy="16866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56119" y="1542530"/>
            <a:ext cx="4884420" cy="21188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440" y="4747771"/>
            <a:ext cx="4365711" cy="1185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998091" cy="6858000"/>
            <a:chOff x="0" y="0"/>
            <a:chExt cx="1998091" cy="6858000"/>
          </a:xfrm>
        </p:grpSpPr>
        <p:sp>
          <p:nvSpPr>
            <p:cNvPr id="4" name="object 4"/>
            <p:cNvSpPr/>
            <p:nvPr/>
          </p:nvSpPr>
          <p:spPr>
            <a:xfrm>
              <a:off x="333756" y="414527"/>
              <a:ext cx="1664335" cy="307975"/>
            </a:xfrm>
            <a:custGeom>
              <a:avLst/>
              <a:gdLst/>
              <a:ahLst/>
              <a:cxnLst/>
              <a:rect l="l" t="t" r="r" b="b"/>
              <a:pathLst>
                <a:path w="1664335" h="307975">
                  <a:moveTo>
                    <a:pt x="0" y="307848"/>
                  </a:moveTo>
                  <a:lnTo>
                    <a:pt x="1664208" y="307848"/>
                  </a:lnTo>
                  <a:lnTo>
                    <a:pt x="1664208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solidFill>
              <a:srgbClr val="E4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34010" cy="6858000"/>
            </a:xfrm>
            <a:custGeom>
              <a:avLst/>
              <a:gdLst/>
              <a:ahLst/>
              <a:cxnLst/>
              <a:rect l="l" t="t" r="r" b="b"/>
              <a:pathLst>
                <a:path w="334010" h="6858000">
                  <a:moveTo>
                    <a:pt x="3337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33756" y="6858000"/>
                  </a:lnTo>
                  <a:lnTo>
                    <a:pt x="33375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057" y="479805"/>
              <a:ext cx="535304" cy="21031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756904" y="0"/>
            <a:ext cx="3434079" cy="6858000"/>
            <a:chOff x="8756904" y="0"/>
            <a:chExt cx="3434079" cy="6858000"/>
          </a:xfrm>
        </p:grpSpPr>
        <p:sp>
          <p:nvSpPr>
            <p:cNvPr id="11" name="object 11"/>
            <p:cNvSpPr/>
            <p:nvPr/>
          </p:nvSpPr>
          <p:spPr>
            <a:xfrm>
              <a:off x="8756904" y="0"/>
              <a:ext cx="3434079" cy="6858000"/>
            </a:xfrm>
            <a:custGeom>
              <a:avLst/>
              <a:gdLst/>
              <a:ahLst/>
              <a:cxnLst/>
              <a:rect l="l" t="t" r="r" b="b"/>
              <a:pathLst>
                <a:path w="3434079" h="6858000">
                  <a:moveTo>
                    <a:pt x="343357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433572" y="6858000"/>
                  </a:lnTo>
                  <a:lnTo>
                    <a:pt x="3433572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3104" y="2200655"/>
              <a:ext cx="3275076" cy="1981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40724" y="62484"/>
              <a:ext cx="3256787" cy="20756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30056" y="4244340"/>
              <a:ext cx="3276600" cy="255117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87095" y="2917316"/>
            <a:ext cx="3227070" cy="3392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Black"/>
                <a:cs typeface="Arial Black"/>
              </a:rPr>
              <a:t>Edificio</a:t>
            </a:r>
            <a:r>
              <a:rPr sz="1050" spc="-30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Institucional</a:t>
            </a:r>
            <a:r>
              <a:rPr sz="1050" spc="-45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SAG</a:t>
            </a:r>
            <a:r>
              <a:rPr sz="1050" spc="-30" dirty="0">
                <a:latin typeface="Arial Black"/>
                <a:cs typeface="Arial Black"/>
              </a:rPr>
              <a:t> </a:t>
            </a:r>
            <a:r>
              <a:rPr sz="1050" dirty="0">
                <a:latin typeface="Arial Black"/>
                <a:cs typeface="Arial Black"/>
              </a:rPr>
              <a:t>de</a:t>
            </a:r>
            <a:r>
              <a:rPr sz="1050" spc="-30" dirty="0">
                <a:latin typeface="Arial Black"/>
                <a:cs typeface="Arial Black"/>
              </a:rPr>
              <a:t> </a:t>
            </a:r>
            <a:r>
              <a:rPr sz="1050" spc="-10" dirty="0">
                <a:latin typeface="Arial Black"/>
                <a:cs typeface="Arial Black"/>
              </a:rPr>
              <a:t>Quillota</a:t>
            </a:r>
            <a:endParaRPr sz="10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dirty="0">
                <a:latin typeface="Arial MT"/>
                <a:cs typeface="Arial MT"/>
              </a:rPr>
              <a:t>Quillota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Región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Valparaíso.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Superficie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9.433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m2</a:t>
            </a:r>
            <a:endParaRPr sz="1050">
              <a:latin typeface="Arial MT"/>
              <a:cs typeface="Arial MT"/>
            </a:endParaRPr>
          </a:p>
          <a:p>
            <a:pPr marL="12700" marR="4318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Mandante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Gobierno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regional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Valparaíso</a:t>
            </a:r>
            <a:r>
              <a:rPr sz="1050" spc="-50" dirty="0">
                <a:latin typeface="Arial MT"/>
                <a:cs typeface="Arial MT"/>
              </a:rPr>
              <a:t> y </a:t>
            </a:r>
            <a:r>
              <a:rPr sz="1050" dirty="0">
                <a:latin typeface="Arial MT"/>
                <a:cs typeface="Arial MT"/>
              </a:rPr>
              <a:t>Prado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Arquitectos.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modelación</a:t>
            </a:r>
            <a:r>
              <a:rPr sz="1050" spc="3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3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coordinación</a:t>
            </a:r>
            <a:r>
              <a:rPr sz="1050" spc="3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BIM,</a:t>
            </a:r>
            <a:r>
              <a:rPr sz="1050" spc="3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en </a:t>
            </a:r>
            <a:r>
              <a:rPr sz="1050" dirty="0">
                <a:latin typeface="Arial MT"/>
                <a:cs typeface="Arial MT"/>
              </a:rPr>
              <a:t>gestión</a:t>
            </a:r>
            <a:r>
              <a:rPr sz="1050" spc="12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2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114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2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proyecto</a:t>
            </a:r>
            <a:r>
              <a:rPr sz="1050" spc="12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publico,</a:t>
            </a:r>
            <a:r>
              <a:rPr sz="1050" spc="114" dirty="0">
                <a:latin typeface="Arial MT"/>
                <a:cs typeface="Arial MT"/>
              </a:rPr>
              <a:t>  </a:t>
            </a:r>
            <a:r>
              <a:rPr sz="1050" spc="-20" dirty="0">
                <a:latin typeface="Arial MT"/>
                <a:cs typeface="Arial MT"/>
              </a:rPr>
              <a:t>bajo </a:t>
            </a:r>
            <a:r>
              <a:rPr sz="1050" dirty="0">
                <a:latin typeface="Arial MT"/>
                <a:cs typeface="Arial MT"/>
              </a:rPr>
              <a:t>metodología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PlanBIM.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Se</a:t>
            </a:r>
            <a:r>
              <a:rPr sz="1050" spc="32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desarrolla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la</a:t>
            </a:r>
            <a:r>
              <a:rPr sz="1050" spc="32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modelación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todas</a:t>
            </a:r>
            <a:r>
              <a:rPr sz="1050" spc="330" dirty="0">
                <a:latin typeface="Arial MT"/>
                <a:cs typeface="Arial MT"/>
              </a:rPr>
              <a:t>  </a:t>
            </a:r>
            <a:r>
              <a:rPr sz="1050" spc="-25" dirty="0">
                <a:latin typeface="Arial MT"/>
                <a:cs typeface="Arial MT"/>
              </a:rPr>
              <a:t>sus </a:t>
            </a:r>
            <a:r>
              <a:rPr sz="1050" dirty="0">
                <a:latin typeface="Arial MT"/>
                <a:cs typeface="Arial MT"/>
              </a:rPr>
              <a:t>especialidades,</a:t>
            </a:r>
            <a:r>
              <a:rPr sz="1050" spc="41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con</a:t>
            </a:r>
            <a:r>
              <a:rPr sz="1050" spc="415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cruce</a:t>
            </a:r>
            <a:r>
              <a:rPr sz="1050" spc="420" dirty="0">
                <a:latin typeface="Arial MT"/>
                <a:cs typeface="Arial MT"/>
              </a:rPr>
              <a:t> 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420" dirty="0">
                <a:latin typeface="Arial MT"/>
                <a:cs typeface="Arial MT"/>
              </a:rPr>
              <a:t>  </a:t>
            </a:r>
            <a:r>
              <a:rPr sz="1050" spc="-10" dirty="0">
                <a:latin typeface="Arial MT"/>
                <a:cs typeface="Arial MT"/>
              </a:rPr>
              <a:t>interferencias, </a:t>
            </a:r>
            <a:r>
              <a:rPr sz="1050" dirty="0">
                <a:latin typeface="Arial MT"/>
                <a:cs typeface="Arial MT"/>
              </a:rPr>
              <a:t>parametrización</a:t>
            </a:r>
            <a:r>
              <a:rPr sz="1050" spc="2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</a:t>
            </a:r>
            <a:r>
              <a:rPr sz="1050" spc="2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LOD350,</a:t>
            </a:r>
            <a:r>
              <a:rPr sz="1050" spc="2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control</a:t>
            </a:r>
            <a:r>
              <a:rPr sz="1050" spc="2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2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cambios</a:t>
            </a:r>
            <a:r>
              <a:rPr sz="1050" spc="25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y </a:t>
            </a:r>
            <a:r>
              <a:rPr sz="1050" dirty="0">
                <a:latin typeface="Arial MT"/>
                <a:cs typeface="Arial MT"/>
              </a:rPr>
              <a:t>cubicaciones,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además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114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114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laminas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por </a:t>
            </a:r>
            <a:r>
              <a:rPr sz="1050" dirty="0">
                <a:latin typeface="Arial MT"/>
                <a:cs typeface="Arial MT"/>
              </a:rPr>
              <a:t>etapas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avances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periodo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etapa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diseño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y </a:t>
            </a:r>
            <a:r>
              <a:rPr sz="1050" spc="-10" dirty="0">
                <a:latin typeface="Arial MT"/>
                <a:cs typeface="Arial MT"/>
              </a:rPr>
              <a:t>coordinación.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Desarrollo</a:t>
            </a:r>
            <a:r>
              <a:rPr sz="1050" spc="2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2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parametrización</a:t>
            </a:r>
            <a:r>
              <a:rPr sz="1050" spc="2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2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especialidades</a:t>
            </a:r>
            <a:r>
              <a:rPr sz="1050" spc="25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en </a:t>
            </a:r>
            <a:r>
              <a:rPr sz="1050" dirty="0">
                <a:latin typeface="Arial MT"/>
                <a:cs typeface="Arial MT"/>
              </a:rPr>
              <a:t>detalle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cumplimiento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entregas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inspector </a:t>
            </a:r>
            <a:r>
              <a:rPr sz="1050" dirty="0">
                <a:latin typeface="Arial MT"/>
                <a:cs typeface="Arial MT"/>
              </a:rPr>
              <a:t>fiscal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delegado.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33444" y="1057101"/>
            <a:ext cx="4702175" cy="4853305"/>
            <a:chOff x="3933444" y="1057101"/>
            <a:chExt cx="4702175" cy="485330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1370" y="1057101"/>
              <a:ext cx="4270565" cy="1049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3444" y="2508504"/>
              <a:ext cx="4680204" cy="15636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346448" y="1438656"/>
              <a:ext cx="4285615" cy="4471670"/>
            </a:xfrm>
            <a:custGeom>
              <a:avLst/>
              <a:gdLst/>
              <a:ahLst/>
              <a:cxnLst/>
              <a:rect l="l" t="t" r="r" b="b"/>
              <a:pathLst>
                <a:path w="4285615" h="4471670">
                  <a:moveTo>
                    <a:pt x="0" y="47244"/>
                  </a:moveTo>
                  <a:lnTo>
                    <a:pt x="0" y="3844671"/>
                  </a:lnTo>
                </a:path>
                <a:path w="4285615" h="4471670">
                  <a:moveTo>
                    <a:pt x="1434084" y="606552"/>
                  </a:moveTo>
                  <a:lnTo>
                    <a:pt x="1434084" y="4471314"/>
                  </a:lnTo>
                </a:path>
                <a:path w="4285615" h="4471670">
                  <a:moveTo>
                    <a:pt x="4285487" y="0"/>
                  </a:moveTo>
                  <a:lnTo>
                    <a:pt x="4285487" y="3845687"/>
                  </a:lnTo>
                </a:path>
                <a:path w="4285615" h="4471670">
                  <a:moveTo>
                    <a:pt x="2639568" y="390144"/>
                  </a:moveTo>
                  <a:lnTo>
                    <a:pt x="2639568" y="1379982"/>
                  </a:lnTo>
                </a:path>
                <a:path w="4285615" h="4471670">
                  <a:moveTo>
                    <a:pt x="2639568" y="2331720"/>
                  </a:moveTo>
                  <a:lnTo>
                    <a:pt x="2639568" y="3349752"/>
                  </a:lnTo>
                </a:path>
              </a:pathLst>
            </a:custGeom>
            <a:ln w="6350">
              <a:solidFill>
                <a:srgbClr val="BEBEBE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55870" y="1725422"/>
              <a:ext cx="696976" cy="3337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015" y="3648963"/>
              <a:ext cx="629869" cy="3022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65015" y="5540628"/>
              <a:ext cx="720135" cy="3436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965</Words>
  <Application>Microsoft Office PowerPoint</Application>
  <PresentationFormat>Panorámica</PresentationFormat>
  <Paragraphs>112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Arial MT</vt:lpstr>
      <vt:lpstr>Calibri</vt:lpstr>
      <vt:lpstr>Office Theme</vt:lpstr>
      <vt:lpstr>P O R T A F O L I O</vt:lpstr>
      <vt:lpstr>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Jessica</cp:lastModifiedBy>
  <cp:revision>1</cp:revision>
  <dcterms:created xsi:type="dcterms:W3CDTF">2025-11-25T13:20:38Z</dcterms:created>
  <dcterms:modified xsi:type="dcterms:W3CDTF">2025-11-25T13:22:11Z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2025-11-25T00:00:00Z</vt:filetime>
  </property>
  <property fmtid="{D5CDD505-2E9C-101B-9397-08002B2CF9AE}" pid="5" name="Producer">
    <vt:lpwstr>Microsoft® PowerPoint® LTSC</vt:lpwstr>
  </property>
</Properties>
</file>